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Daily negative experiences (%)</c:v>
                </c:pt>
              </c:strCache>
            </c:strRef>
          </c:tx>
          <c:spPr>
            <a:solidFill>
              <a:srgbClr val="D86161"/>
            </a:solidFill>
            <a:ln>
              <a:solidFill>
                <a:srgbClr val="D86161"/>
              </a:solidFill>
            </a:ln>
          </c:spPr>
          <c:cat>
            <c:strRef>
              <c:f>Sheet1!$A$2:$A$6</c:f>
              <c:strCache>
                <c:ptCount val="5"/>
                <c:pt idx="0">
                  <c:v>Worry</c:v>
                </c:pt>
                <c:pt idx="1">
                  <c:v>Stress</c:v>
                </c:pt>
                <c:pt idx="2">
                  <c:v>Physical pain</c:v>
                </c:pt>
                <c:pt idx="3">
                  <c:v>Sadness</c:v>
                </c:pt>
                <c:pt idx="4">
                  <c:v>Anger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</c:v>
                </c:pt>
                <c:pt idx="1">
                  <c:v>37</c:v>
                </c:pt>
                <c:pt idx="2">
                  <c:v>32</c:v>
                </c:pt>
                <c:pt idx="3">
                  <c:v>26</c:v>
                </c:pt>
                <c:pt idx="4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7B2C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</c:scaling>
        <c:delete val="0"/>
        <c:axPos val="b"/>
        <c:majorGridlines>
          <c:spPr>
            <a:ln>
              <a:solidFill>
                <a:srgbClr val="3B4557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7B2C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Daily positive experiences (%)</c:v>
                </c:pt>
              </c:strCache>
            </c:strRef>
          </c:tx>
          <c:spPr>
            <a:solidFill>
              <a:srgbClr val="65BF95"/>
            </a:solidFill>
            <a:ln>
              <a:solidFill>
                <a:srgbClr val="65BF95"/>
              </a:solidFill>
            </a:ln>
          </c:spPr>
          <c:cat>
            <c:strRef>
              <c:f>Sheet1!$A$2:$A$6</c:f>
              <c:strCache>
                <c:ptCount val="5"/>
                <c:pt idx="0">
                  <c:v>Respect</c:v>
                </c:pt>
                <c:pt idx="1">
                  <c:v>Laughter</c:v>
                </c:pt>
                <c:pt idx="2">
                  <c:v>Enjoyment</c:v>
                </c:pt>
                <c:pt idx="3">
                  <c:v>Well-rested</c:v>
                </c:pt>
                <c:pt idx="4">
                  <c:v>Learned something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73</c:v>
                </c:pt>
                <c:pt idx="2">
                  <c:v>73</c:v>
                </c:pt>
                <c:pt idx="3">
                  <c:v>72</c:v>
                </c:pt>
                <c:pt idx="4">
                  <c:v>52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7B2C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b"/>
        <c:majorGridlines>
          <c:spPr>
            <a:ln>
              <a:solidFill>
                <a:srgbClr val="3B4557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7B2C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Issue/lever index</c:v>
                </c:pt>
              </c:strCache>
            </c:strRef>
          </c:tx>
          <c:dPt>
            <c:idx val="0"/>
            <c:spPr>
              <a:solidFill>
                <a:srgbClr val="D86161"/>
              </a:solidFill>
              <a:ln>
                <a:solidFill>
                  <a:srgbClr val="D86161"/>
                </a:solidFill>
              </a:ln>
            </c:spPr>
          </c:dPt>
          <c:dPt>
            <c:idx val="1"/>
            <c:spPr>
              <a:solidFill>
                <a:srgbClr val="D86161"/>
              </a:solidFill>
              <a:ln>
                <a:solidFill>
                  <a:srgbClr val="D86161"/>
                </a:solidFill>
              </a:ln>
            </c:spPr>
          </c:dPt>
          <c:dPt>
            <c:idx val="2"/>
            <c:spPr>
              <a:solidFill>
                <a:srgbClr val="65BF95"/>
              </a:solidFill>
              <a:ln>
                <a:solidFill>
                  <a:srgbClr val="65BF95"/>
                </a:solidFill>
              </a:ln>
            </c:spPr>
          </c:dPt>
          <c:dPt>
            <c:idx val="3"/>
            <c:spPr>
              <a:solidFill>
                <a:srgbClr val="629FF6"/>
              </a:solidFill>
              <a:ln>
                <a:solidFill>
                  <a:srgbClr val="629FF6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Worry load</c:v>
                </c:pt>
                <c:pt idx="1">
                  <c:v>Stress load</c:v>
                </c:pt>
                <c:pt idx="2">
                  <c:v>Learning signal</c:v>
                </c:pt>
                <c:pt idx="3">
                  <c:v>Affect labeling support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</c:v>
                </c:pt>
                <c:pt idx="1">
                  <c:v>37</c:v>
                </c:pt>
                <c:pt idx="2">
                  <c:v>52</c:v>
                </c:pt>
                <c:pt idx="3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7B2C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5.0"/>
        </c:scaling>
        <c:delete val="0"/>
        <c:axPos val="l"/>
        <c:majorGridlines>
          <c:spPr>
            <a:ln>
              <a:solidFill>
                <a:srgbClr val="3B4557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7B2C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range / prevalence (%)</c:v>
                </c:pt>
              </c:strCache>
            </c:strRef>
          </c:tx>
          <c:dPt>
            <c:idx val="0"/>
            <c:spPr>
              <a:solidFill>
                <a:srgbClr val="A47DEB"/>
              </a:solidFill>
              <a:ln>
                <a:solidFill>
                  <a:srgbClr val="A47DEB"/>
                </a:solidFill>
              </a:ln>
            </c:spPr>
          </c:dPt>
          <c:dPt>
            <c:idx val="1"/>
            <c:spPr>
              <a:solidFill>
                <a:srgbClr val="A47DEB"/>
              </a:solidFill>
              <a:ln>
                <a:solidFill>
                  <a:srgbClr val="A47DEB"/>
                </a:solidFill>
              </a:ln>
            </c:spPr>
          </c:dPt>
          <c:dPt>
            <c:idx val="2"/>
            <c:spPr>
              <a:solidFill>
                <a:srgbClr val="D86161"/>
              </a:solidFill>
              <a:ln>
                <a:solidFill>
                  <a:srgbClr val="D86161"/>
                </a:solidFill>
              </a:ln>
            </c:spPr>
          </c:dPt>
          <c:dPt>
            <c:idx val="3"/>
            <c:spPr>
              <a:solidFill>
                <a:srgbClr val="D86161"/>
              </a:solidFill>
              <a:ln>
                <a:solidFill>
                  <a:srgbClr val="D86161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Negative intensity overread (low)</c:v>
                </c:pt>
                <c:pt idx="1">
                  <c:v>Negative intensity overread (high)</c:v>
                </c:pt>
                <c:pt idx="2">
                  <c:v>Daily anger</c:v>
                </c:pt>
                <c:pt idx="3">
                  <c:v>Daily sadness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30</c:v>
                </c:pt>
                <c:pt idx="2">
                  <c:v>22</c:v>
                </c:pt>
                <c:pt idx="3">
                  <c:v>26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7B2C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5.0"/>
        </c:scaling>
        <c:delete val="0"/>
        <c:axPos val="l"/>
        <c:majorGridlines>
          <c:spPr>
            <a:ln>
              <a:solidFill>
                <a:srgbClr val="3B4557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7B2C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Riots/strikes/anti-gov demos index</c:v>
                </c:pt>
              </c:strCache>
            </c:strRef>
          </c:tx>
          <c:dPt>
            <c:idx val="0"/>
            <c:spPr>
              <a:solidFill>
                <a:srgbClr val="D86161"/>
              </a:solidFill>
              <a:ln>
                <a:solidFill>
                  <a:srgbClr val="D86161"/>
                </a:solidFill>
              </a:ln>
            </c:spPr>
          </c:dPt>
          <c:dPt>
            <c:idx val="1"/>
            <c:spPr>
              <a:solidFill>
                <a:srgbClr val="D86161"/>
              </a:solidFill>
              <a:ln>
                <a:solidFill>
                  <a:srgbClr val="D86161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2011 baseline</c:v>
                </c:pt>
                <c:pt idx="1">
                  <c:v>2019 level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344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7B2C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0.0"/>
        </c:scaling>
        <c:delete val="0"/>
        <c:axPos val="l"/>
        <c:majorGridlines>
          <c:spPr>
            <a:ln>
              <a:solidFill>
                <a:srgbClr val="3B4557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7B2C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Daily pressure prevalence (%)</c:v>
                </c:pt>
              </c:strCache>
            </c:strRef>
          </c:tx>
          <c:dPt>
            <c:idx val="0"/>
            <c:spPr>
              <a:solidFill>
                <a:srgbClr val="EBAB4A"/>
              </a:solidFill>
              <a:ln>
                <a:solidFill>
                  <a:srgbClr val="EBAB4A"/>
                </a:solidFill>
              </a:ln>
            </c:spPr>
          </c:dPt>
          <c:dPt>
            <c:idx val="1"/>
            <c:spPr>
              <a:solidFill>
                <a:srgbClr val="EBAB4A"/>
              </a:solidFill>
              <a:ln>
                <a:solidFill>
                  <a:srgbClr val="EBAB4A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Stress</c:v>
                </c:pt>
                <c:pt idx="1">
                  <c:v>Worry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39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7B2C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</c:scaling>
        <c:delete val="0"/>
        <c:axPos val="l"/>
        <c:majorGridlines>
          <c:spPr>
            <a:ln>
              <a:solidFill>
                <a:srgbClr val="3B4557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7B2C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System signal coverage index</c:v>
                </c:pt>
              </c:strCache>
            </c:strRef>
          </c:tx>
          <c:dPt>
            <c:idx val="0"/>
            <c:spPr>
              <a:solidFill>
                <a:srgbClr val="629FF6"/>
              </a:solidFill>
              <a:ln>
                <a:solidFill>
                  <a:srgbClr val="629FF6"/>
                </a:solidFill>
              </a:ln>
            </c:spPr>
          </c:dPt>
          <c:dPt>
            <c:idx val="1"/>
            <c:spPr>
              <a:solidFill>
                <a:srgbClr val="65BF95"/>
              </a:solidFill>
              <a:ln>
                <a:solidFill>
                  <a:srgbClr val="65BF95"/>
                </a:solidFill>
              </a:ln>
            </c:spPr>
          </c:dPt>
          <c:dPt>
            <c:idx val="2"/>
            <c:spPr>
              <a:solidFill>
                <a:srgbClr val="A47DEB"/>
              </a:solidFill>
              <a:ln>
                <a:solidFill>
                  <a:srgbClr val="A47DEB"/>
                </a:solidFill>
              </a:ln>
            </c:spPr>
          </c:dPt>
          <c:dPt>
            <c:idx val="3"/>
            <c:spPr>
              <a:solidFill>
                <a:srgbClr val="EBAB4A"/>
              </a:solidFill>
              <a:ln>
                <a:solidFill>
                  <a:srgbClr val="EBAB4A"/>
                </a:solidFill>
              </a:ln>
            </c:spPr>
          </c:dPt>
          <c:dPt>
            <c:idx val="4"/>
            <c:spPr>
              <a:solidFill>
                <a:srgbClr val="D86161"/>
              </a:solidFill>
              <a:ln>
                <a:solidFill>
                  <a:srgbClr val="D86161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Pre/post delta</c:v>
                </c:pt>
                <c:pt idx="1">
                  <c:v>Loop completion 14d</c:v>
                </c:pt>
                <c:pt idx="2">
                  <c:v>Nudge recovery 14d</c:v>
                </c:pt>
                <c:pt idx="3">
                  <c:v>Reliability score</c:v>
                </c:pt>
                <c:pt idx="4">
                  <c:v>Tool efficacy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7B2C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</c:scaling>
        <c:delete val="0"/>
        <c:axPos val="l"/>
        <c:majorGridlines>
          <c:spPr>
            <a:ln>
              <a:solidFill>
                <a:srgbClr val="3B4557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7B2C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 (%)</c:v>
                </c:pt>
              </c:strCache>
            </c:strRef>
          </c:tx>
          <c:dPt>
            <c:idx val="0"/>
            <c:spPr>
              <a:solidFill>
                <a:srgbClr val="EBAB4A"/>
              </a:solidFill>
              <a:ln>
                <a:solidFill>
                  <a:srgbClr val="EBAB4A"/>
                </a:solidFill>
              </a:ln>
            </c:spPr>
          </c:dPt>
          <c:dPt>
            <c:idx val="1"/>
            <c:spPr>
              <a:solidFill>
                <a:srgbClr val="629FF6"/>
              </a:solidFill>
              <a:ln>
                <a:solidFill>
                  <a:srgbClr val="629FF6"/>
                </a:solidFill>
              </a:ln>
            </c:spPr>
          </c:dPt>
          <c:dPt>
            <c:idx val="2"/>
            <c:spPr>
              <a:solidFill>
                <a:srgbClr val="65BF95"/>
              </a:solidFill>
              <a:ln>
                <a:solidFill>
                  <a:srgbClr val="65BF95"/>
                </a:solidFill>
              </a:ln>
            </c:spPr>
          </c:dPt>
          <c:dPt>
            <c:idx val="3"/>
            <c:spPr>
              <a:solidFill>
                <a:srgbClr val="A47DEB"/>
              </a:solidFill>
              <a:ln>
                <a:solidFill>
                  <a:srgbClr val="A47DEB"/>
                </a:solidFill>
              </a:ln>
            </c:spPr>
          </c:dPt>
          <c:dPt>
            <c:idx val="4"/>
            <c:spPr>
              <a:solidFill>
                <a:srgbClr val="D86161"/>
              </a:solidFill>
              <a:ln>
                <a:solidFill>
                  <a:srgbClr val="D86161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Behavior changed in real moment</c:v>
                </c:pt>
                <c:pt idx="1">
                  <c:v>Friction pinpoint (exact step)</c:v>
                </c:pt>
                <c:pt idx="2">
                  <c:v>Reliability defect report</c:v>
                </c:pt>
                <c:pt idx="3">
                  <c:v>Decision quality transfer</c:v>
                </c:pt>
                <c:pt idx="4">
                  <c:v>Daily use blocker ranking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20</c:v>
                </c:pt>
                <c:pt idx="2">
                  <c:v>20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7B2C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5.0"/>
        </c:scaling>
        <c:delete val="0"/>
        <c:axPos val="l"/>
        <c:majorGridlines>
          <c:spPr>
            <a:ln>
              <a:solidFill>
                <a:srgbClr val="3B4557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7B2C2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2064" y="109728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APPLIED SCIENCE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7B2C2"/>
                </a:solidFill>
                <a:latin typeface="Consolas"/>
              </a:rPr>
              <a:t>01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CF0F5"/>
                </a:solidFill>
                <a:latin typeface="Calibri"/>
              </a:rPr>
              <a:t>Stillform: Applied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927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7B2C2"/>
                </a:solidFill>
                <a:latin typeface="Calibri"/>
              </a:rPr>
              <a:t>Metacognition, EQ, composure, impulsivity control, microbias conflict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57400"/>
            <a:ext cx="10881360" cy="365760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14600"/>
            <a:ext cx="102412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ECF0F5"/>
                </a:solidFill>
                <a:latin typeface="Calibri"/>
              </a:defRPr>
            </a:pPr>
            <a:r>
              <a:t>This deck is product-mechanism-first, not generic wellness benchmarking.</a:t>
            </a:r>
          </a:p>
          <a:p>
            <a:pPr>
              <a:spcAft>
                <a:spcPts val="1000"/>
              </a:spcAft>
              <a:defRPr sz="2200">
                <a:solidFill>
                  <a:srgbClr val="ECF0F5"/>
                </a:solidFill>
                <a:latin typeface="Calibri"/>
              </a:defRPr>
            </a:pPr>
            <a:r>
              <a:t>Each domain includes: global issue context -&gt; Stillform mechanism -&gt; measurable telemetry signal.</a:t>
            </a:r>
          </a:p>
          <a:p>
            <a:pPr>
              <a:spcAft>
                <a:spcPts val="1000"/>
              </a:spcAft>
              <a:defRPr sz="2200">
                <a:solidFill>
                  <a:srgbClr val="ECF0F5"/>
                </a:solidFill>
                <a:latin typeface="Calibri"/>
              </a:defRPr>
            </a:pPr>
            <a:r>
              <a:t>No psychiatric treatment claims. Stillform is a composure training and decision-quality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7B2C2"/>
                </a:solidFill>
                <a:latin typeface="Consolas"/>
              </a:rPr>
              <a:t>Source: Stillform science sheet + app instrumentation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2064" y="109728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APPLIED SCIENCE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7B2C2"/>
                </a:solidFill>
                <a:latin typeface="Consolas"/>
              </a:rPr>
              <a:t>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CF0F5"/>
                </a:solidFill>
                <a:latin typeface="Calibri"/>
              </a:rPr>
              <a:t>Global Composure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927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7B2C2"/>
                </a:solidFill>
                <a:latin typeface="Calibri"/>
              </a:rPr>
              <a:t>Pressure is high; capacity is uneven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5486400" cy="425196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14400" y="2331720"/>
          <a:ext cx="507492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355080" y="1920240"/>
            <a:ext cx="5349240" cy="425196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583680" y="2331720"/>
          <a:ext cx="493776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7B2C2"/>
                </a:solidFill>
                <a:latin typeface="Consolas"/>
              </a:rPr>
              <a:t>Source: Gallup State of the World's Emotional Health (2024)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2064" y="109728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APPLIED SCIENCE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7B2C2"/>
                </a:solidFill>
                <a:latin typeface="Consolas"/>
              </a:rPr>
              <a:t>03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CF0F5"/>
                </a:solidFill>
                <a:latin typeface="Calibri"/>
              </a:rPr>
              <a:t>Applied Science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927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7B2C2"/>
                </a:solidFill>
                <a:latin typeface="Calibri"/>
              </a:rPr>
              <a:t>Domain -&gt; global issue -&gt; Stillform mechanism -&gt; telemetry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82880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3063240"/>
                <a:gridCol w="3154680"/>
              </a:tblGrid>
              <a:tr h="7543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BAB4A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>
                    <a:solidFill>
                      <a:srgbClr val="1319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BAB4A"/>
                          </a:solidFill>
                          <a:latin typeface="Calibri"/>
                        </a:rPr>
                        <a:t>Global issue context</a:t>
                      </a:r>
                    </a:p>
                  </a:txBody>
                  <a:tcPr>
                    <a:solidFill>
                      <a:srgbClr val="1319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BAB4A"/>
                          </a:solidFill>
                          <a:latin typeface="Calibri"/>
                        </a:rPr>
                        <a:t>Stillform mechanism</a:t>
                      </a:r>
                    </a:p>
                  </a:txBody>
                  <a:tcPr>
                    <a:solidFill>
                      <a:srgbClr val="1319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BAB4A"/>
                          </a:solidFill>
                          <a:latin typeface="Calibri"/>
                        </a:rPr>
                        <a:t>Measured signal</a:t>
                      </a:r>
                    </a:p>
                  </a:txBody>
                  <a:tcPr>
                    <a:solidFill>
                      <a:srgbClr val="131924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Metacognition</a:t>
                      </a:r>
                    </a:p>
                  </a:txBody>
                  <a:tcPr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High worry/stress narrows cognitive monitoring</a:t>
                      </a:r>
                    </a:p>
                  </a:txBody>
                  <a:tcPr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Pulse labeling + Reframe pattern reflection</a:t>
                      </a:r>
                    </a:p>
                  </a:txBody>
                  <a:tcPr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Pre/post composure delta trend</a:t>
                      </a:r>
                    </a:p>
                  </a:txBody>
                  <a:tcPr>
                    <a:solidFill>
                      <a:srgbClr val="0A0D13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EQ</a:t>
                      </a:r>
                    </a:p>
                  </a:txBody>
                  <a:tcPr>
                    <a:solidFill>
                      <a:srgbClr val="1B22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Interpersonal reads degrade under load</a:t>
                      </a:r>
                    </a:p>
                  </a:txBody>
                  <a:tcPr>
                    <a:solidFill>
                      <a:srgbClr val="1B22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Bio-filter + interpersonal microbias prompts</a:t>
                      </a:r>
                    </a:p>
                  </a:txBody>
                  <a:tcPr>
                    <a:solidFill>
                      <a:srgbClr val="1B22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Conflict-triggered session outcomes</a:t>
                      </a:r>
                    </a:p>
                  </a:txBody>
                  <a:tcPr>
                    <a:solidFill>
                      <a:srgbClr val="1B222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Composure</a:t>
                      </a:r>
                    </a:p>
                  </a:txBody>
                  <a:tcPr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Daily regulation instability</a:t>
                      </a:r>
                    </a:p>
                  </a:txBody>
                  <a:tcPr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Morning baseline + intervention + EOD close</a:t>
                      </a:r>
                    </a:p>
                  </a:txBody>
                  <a:tcPr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14d loop completion</a:t>
                      </a:r>
                    </a:p>
                  </a:txBody>
                  <a:tcPr>
                    <a:solidFill>
                      <a:srgbClr val="0A0D13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Impulsivity</a:t>
                      </a:r>
                    </a:p>
                  </a:txBody>
                  <a:tcPr>
                    <a:solidFill>
                      <a:srgbClr val="1B22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Fast state -&gt; fast action errors</a:t>
                      </a:r>
                    </a:p>
                  </a:txBody>
                  <a:tcPr>
                    <a:solidFill>
                      <a:srgbClr val="1B22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Somatic interrupt + default pathway routing</a:t>
                      </a:r>
                    </a:p>
                  </a:txBody>
                  <a:tcPr>
                    <a:solidFill>
                      <a:srgbClr val="1B22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Time-to-stabilization, post-rating gain</a:t>
                      </a:r>
                    </a:p>
                  </a:txBody>
                  <a:tcPr>
                    <a:solidFill>
                      <a:srgbClr val="1B222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Microbias conflict</a:t>
                      </a:r>
                    </a:p>
                  </a:txBody>
                  <a:tcPr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20-30% overread of others' negative intensity</a:t>
                      </a:r>
                    </a:p>
                  </a:txBody>
                  <a:tcPr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Bias detection (projection/attribution/contagion)</a:t>
                      </a:r>
                    </a:p>
                  </a:txBody>
                  <a:tcPr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CF0F5"/>
                          </a:solidFill>
                          <a:latin typeface="Calibri"/>
                        </a:rPr>
                        <a:t>Bias-tag recurrence reduction</a:t>
                      </a:r>
                    </a:p>
                  </a:txBody>
                  <a:tcPr>
                    <a:solidFill>
                      <a:srgbClr val="0A0D1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7B2C2"/>
                </a:solidFill>
                <a:latin typeface="Consolas"/>
              </a:rPr>
              <a:t>Source: Stillform science sheet; App.jsx loop, rating, and nudge telemetry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2064" y="109728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APPLIED SCIENCE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7B2C2"/>
                </a:solidFill>
                <a:latin typeface="Consolas"/>
              </a:rPr>
              <a:t>04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CF0F5"/>
                </a:solidFill>
                <a:latin typeface="Calibri"/>
              </a:rPr>
              <a:t>Metacognition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927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7B2C2"/>
                </a:solidFill>
                <a:latin typeface="Calibri"/>
              </a:rPr>
              <a:t>From unobserved state loops to monitored response choice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7406640" cy="425196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60120" y="2240280"/>
          <a:ext cx="690372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21040" y="1920240"/>
            <a:ext cx="3383280" cy="425196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2240280"/>
            <a:ext cx="292608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7B2C2"/>
                </a:solidFill>
                <a:latin typeface="Consolas"/>
              </a:rPr>
              <a:t>CORE MECHANISM</a:t>
            </a:r>
          </a:p>
          <a:p>
            <a:r>
              <a:rPr sz="3400" b="1">
                <a:solidFill>
                  <a:srgbClr val="629FF6"/>
                </a:solidFill>
                <a:latin typeface="Calibri"/>
              </a:rPr>
              <a:t>Affect labeling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429000"/>
            <a:ext cx="292608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7B2C2"/>
                </a:solidFill>
                <a:latin typeface="Consolas"/>
              </a:rPr>
              <a:t>TOOL</a:t>
            </a:r>
          </a:p>
          <a:p>
            <a:r>
              <a:rPr sz="3400" b="1">
                <a:solidFill>
                  <a:srgbClr val="65BF95"/>
                </a:solidFill>
                <a:latin typeface="Calibri"/>
              </a:rPr>
              <a:t>Pulse + Reframe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572000"/>
            <a:ext cx="292608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7B2C2"/>
                </a:solidFill>
                <a:latin typeface="Consolas"/>
              </a:rPr>
              <a:t>OUTCOME</a:t>
            </a:r>
          </a:p>
          <a:p>
            <a:r>
              <a:rPr sz="3400" b="1">
                <a:solidFill>
                  <a:srgbClr val="EBAB4A"/>
                </a:solidFill>
                <a:latin typeface="Calibri"/>
              </a:rPr>
              <a:t>Clearer choices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7B2C2"/>
                </a:solidFill>
                <a:latin typeface="Consolas"/>
              </a:rPr>
              <a:t>Source: Flavell 1979; Lieberman 2007; Torre &amp; Lieberman 2018; Gallup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2064" y="109728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APPLIED SCIENCE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7B2C2"/>
                </a:solidFill>
                <a:latin typeface="Consolas"/>
              </a:rPr>
              <a:t>05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CF0F5"/>
                </a:solidFill>
                <a:latin typeface="Calibri"/>
              </a:rPr>
              <a:t>EQ + Microbias Conflict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927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7B2C2"/>
                </a:solidFill>
                <a:latin typeface="Calibri"/>
              </a:rPr>
              <a:t>When state is noisy, social interpretation gets distorted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7406640" cy="425196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60120" y="2240280"/>
          <a:ext cx="690372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21040" y="1920240"/>
            <a:ext cx="3383280" cy="425196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2240280"/>
            <a:ext cx="292608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CF0F5"/>
                </a:solidFill>
                <a:latin typeface="Calibri"/>
              </a:defRPr>
            </a:pPr>
            <a:r>
              <a:t>Stillform applies one bias check at a time:</a:t>
            </a:r>
          </a:p>
          <a:p>
            <a:pPr>
              <a:spcAft>
                <a:spcPts val="800"/>
              </a:spcAft>
              <a:defRPr sz="1600" b="0">
                <a:solidFill>
                  <a:srgbClr val="ECF0F5"/>
                </a:solidFill>
                <a:latin typeface="Calibri"/>
              </a:defRPr>
            </a:pPr>
            <a:r>
              <a:t>projection, attribution, contagion, impact gap, intensity amplification.</a:t>
            </a:r>
          </a:p>
          <a:p>
            <a:pPr>
              <a:spcAft>
                <a:spcPts val="800"/>
              </a:spcAft>
              <a:defRPr sz="1600" b="0">
                <a:solidFill>
                  <a:srgbClr val="ECF0F5"/>
                </a:solidFill>
                <a:latin typeface="Calibri"/>
              </a:defRPr>
            </a:pPr>
            <a:r>
              <a:t>Goal: reduce reactive conflict reads and improve decision tone.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7B2C2"/>
                </a:solidFill>
                <a:latin typeface="Consolas"/>
              </a:rPr>
              <a:t>Source: Stillform science sheet microbias section; Nature Communications 2025; Gallup 2024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2064" y="109728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APPLIED SCIENCE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7B2C2"/>
                </a:solidFill>
                <a:latin typeface="Consolas"/>
              </a:rPr>
              <a:t>06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CF0F5"/>
                </a:solidFill>
                <a:latin typeface="Calibri"/>
              </a:rPr>
              <a:t>Impulsivity Under 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927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7B2C2"/>
                </a:solidFill>
                <a:latin typeface="Calibri"/>
              </a:rPr>
              <a:t>High arousal + low monitoring increases reactive action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5486400" cy="425196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14400" y="2240280"/>
          <a:ext cx="507492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355080" y="1920240"/>
            <a:ext cx="5349240" cy="425196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583680" y="2240280"/>
          <a:ext cx="493776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7B2C2"/>
                </a:solidFill>
                <a:latin typeface="Consolas"/>
              </a:rPr>
              <a:t>Source: Gallup/IEP unrest trend cited in Gallup 2025 report; Gallup 2024 daily stress/worry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2064" y="109728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APPLIED SCIENCE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7B2C2"/>
                </a:solidFill>
                <a:latin typeface="Consolas"/>
              </a:rPr>
              <a:t>07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CF0F5"/>
                </a:solidFill>
                <a:latin typeface="Calibri"/>
              </a:rPr>
              <a:t>Stillform Mechanism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927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7B2C2"/>
                </a:solidFill>
                <a:latin typeface="Calibri"/>
              </a:rPr>
              <a:t>How applied science is operationalized in-product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40280"/>
            <a:ext cx="2194560" cy="251460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2404872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29FF6"/>
                </a:solidFill>
                <a:latin typeface="Calibri"/>
              </a:rPr>
              <a:t>State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081528"/>
            <a:ext cx="192024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CF0F5"/>
                </a:solidFill>
                <a:latin typeface="Calibri"/>
              </a:rPr>
              <a:t>Morning + bio-filter</a:t>
            </a:r>
          </a:p>
        </p:txBody>
      </p:sp>
      <p:sp>
        <p:nvSpPr>
          <p:cNvPr id="10" name="Chevron 9"/>
          <p:cNvSpPr/>
          <p:nvPr/>
        </p:nvSpPr>
        <p:spPr>
          <a:xfrm>
            <a:off x="2834640" y="3291840"/>
            <a:ext cx="128016" cy="502920"/>
          </a:xfrm>
          <a:prstGeom prst="chevron">
            <a:avLst/>
          </a:prstGeom>
          <a:solidFill>
            <a:srgbClr val="A7B2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62656" y="2240280"/>
            <a:ext cx="2194560" cy="2514600"/>
          </a:xfrm>
          <a:prstGeom prst="roundRect">
            <a:avLst/>
          </a:prstGeom>
          <a:solidFill>
            <a:srgbClr val="1B222F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9816" y="2404872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5BF95"/>
                </a:solidFill>
                <a:latin typeface="Calibri"/>
              </a:rPr>
              <a:t>Interrupt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9816" y="3081528"/>
            <a:ext cx="192024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CF0F5"/>
                </a:solidFill>
                <a:latin typeface="Calibri"/>
              </a:rPr>
              <a:t>Breathe / Body Scan / Somatic cue</a:t>
            </a:r>
          </a:p>
        </p:txBody>
      </p:sp>
      <p:sp>
        <p:nvSpPr>
          <p:cNvPr id="14" name="Chevron 13"/>
          <p:cNvSpPr/>
          <p:nvPr/>
        </p:nvSpPr>
        <p:spPr>
          <a:xfrm>
            <a:off x="5138928" y="3291840"/>
            <a:ext cx="128016" cy="502920"/>
          </a:xfrm>
          <a:prstGeom prst="chevron">
            <a:avLst/>
          </a:prstGeom>
          <a:solidFill>
            <a:srgbClr val="A7B2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66944" y="2240280"/>
            <a:ext cx="2194560" cy="251460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4104" y="2404872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BAB4A"/>
                </a:solidFill>
                <a:latin typeface="Calibri"/>
              </a:rPr>
              <a:t>Reappraise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4104" y="3081528"/>
            <a:ext cx="192024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CF0F5"/>
                </a:solidFill>
                <a:latin typeface="Calibri"/>
              </a:rPr>
              <a:t>AI reframe + microbias correction</a:t>
            </a:r>
          </a:p>
        </p:txBody>
      </p:sp>
      <p:sp>
        <p:nvSpPr>
          <p:cNvPr id="18" name="Chevron 17"/>
          <p:cNvSpPr/>
          <p:nvPr/>
        </p:nvSpPr>
        <p:spPr>
          <a:xfrm>
            <a:off x="7443216" y="3291840"/>
            <a:ext cx="128016" cy="502920"/>
          </a:xfrm>
          <a:prstGeom prst="chevron">
            <a:avLst/>
          </a:prstGeom>
          <a:solidFill>
            <a:srgbClr val="A7B2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71232" y="2240280"/>
            <a:ext cx="2194560" cy="2514600"/>
          </a:xfrm>
          <a:prstGeom prst="roundRect">
            <a:avLst/>
          </a:prstGeom>
          <a:solidFill>
            <a:srgbClr val="1B222F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2404872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A47DEB"/>
                </a:solidFill>
                <a:latin typeface="Calibri"/>
              </a:rPr>
              <a:t>Transfer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8392" y="3081528"/>
            <a:ext cx="192024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CF0F5"/>
                </a:solidFill>
                <a:latin typeface="Calibri"/>
              </a:rPr>
              <a:t>One next action under control</a:t>
            </a:r>
          </a:p>
        </p:txBody>
      </p:sp>
      <p:sp>
        <p:nvSpPr>
          <p:cNvPr id="22" name="Chevron 21"/>
          <p:cNvSpPr/>
          <p:nvPr/>
        </p:nvSpPr>
        <p:spPr>
          <a:xfrm>
            <a:off x="9747504" y="3291840"/>
            <a:ext cx="128016" cy="502920"/>
          </a:xfrm>
          <a:prstGeom prst="chevron">
            <a:avLst/>
          </a:prstGeom>
          <a:solidFill>
            <a:srgbClr val="A7B2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0" y="2240280"/>
            <a:ext cx="2194560" cy="251460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12680" y="2404872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D86161"/>
                </a:solidFill>
                <a:latin typeface="Calibri"/>
              </a:rPr>
              <a:t>Consolidate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3081528"/>
            <a:ext cx="192024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CF0F5"/>
                </a:solidFill>
                <a:latin typeface="Calibri"/>
              </a:rPr>
              <a:t>EOD close + pattern memory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7B2C2"/>
                </a:solidFill>
                <a:latin typeface="Consolas"/>
              </a:rPr>
              <a:t>Source: Stillform intervention flow: morning baseline -&gt; intervention -&gt; post-rating -&gt; EOD loop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2064" y="109728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APPLIED SCIENCE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7B2C2"/>
                </a:solidFill>
                <a:latin typeface="Consolas"/>
              </a:rPr>
              <a:t>08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CF0F5"/>
                </a:solidFill>
                <a:latin typeface="Calibri"/>
              </a:rPr>
              <a:t>Telemetry Proof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927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7B2C2"/>
                </a:solidFill>
                <a:latin typeface="Calibri"/>
              </a:rPr>
              <a:t>Applied science must be visible in measurable loop outputs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7406640" cy="425196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60120" y="2240280"/>
          <a:ext cx="690372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21040" y="1920240"/>
            <a:ext cx="3383280" cy="425196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2240280"/>
            <a:ext cx="292608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ECF0F5"/>
                </a:solidFill>
                <a:latin typeface="Calibri"/>
              </a:defRPr>
            </a:pPr>
            <a:r>
              <a:t>Reliability score formula:</a:t>
            </a:r>
          </a:p>
          <a:p>
            <a:pPr>
              <a:spcAft>
                <a:spcPts val="500"/>
              </a:spcAft>
              <a:defRPr sz="1400" b="0">
                <a:solidFill>
                  <a:srgbClr val="ECF0F5"/>
                </a:solidFill>
                <a:latin typeface="Calibri"/>
              </a:defRPr>
            </a:pPr>
            <a:r>
              <a:t>(Loop completion x 0.65) +</a:t>
            </a:r>
          </a:p>
          <a:p>
            <a:pPr>
              <a:spcAft>
                <a:spcPts val="500"/>
              </a:spcAft>
              <a:defRPr sz="1400" b="0">
                <a:solidFill>
                  <a:srgbClr val="ECF0F5"/>
                </a:solidFill>
                <a:latin typeface="Calibri"/>
              </a:defRPr>
            </a:pPr>
            <a:r>
              <a:t>(Nudge recovery x 0.35)</a:t>
            </a:r>
          </a:p>
          <a:p>
            <a:pPr>
              <a:spcAft>
                <a:spcPts val="500"/>
              </a:spcAft>
              <a:defRPr sz="1400" b="0">
                <a:solidFill>
                  <a:srgbClr val="ECF0F5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400" b="0">
                <a:solidFill>
                  <a:srgbClr val="ECF0F5"/>
                </a:solidFill>
                <a:latin typeface="Calibri"/>
              </a:defRPr>
            </a:pPr>
            <a:r>
              <a:t>Windows:</a:t>
            </a:r>
          </a:p>
          <a:p>
            <a:pPr>
              <a:spcAft>
                <a:spcPts val="500"/>
              </a:spcAft>
              <a:defRPr sz="1400" b="0">
                <a:solidFill>
                  <a:srgbClr val="ECF0F5"/>
                </a:solidFill>
                <a:latin typeface="Calibri"/>
              </a:defRPr>
            </a:pPr>
            <a:r>
              <a:t>14-day operating loop</a:t>
            </a:r>
          </a:p>
          <a:p>
            <a:pPr>
              <a:spcAft>
                <a:spcPts val="500"/>
              </a:spcAft>
              <a:defRPr sz="1400" b="0">
                <a:solidFill>
                  <a:srgbClr val="ECF0F5"/>
                </a:solidFill>
                <a:latin typeface="Calibri"/>
              </a:defRPr>
            </a:pPr>
            <a:r>
              <a:t>12-week telemetry history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7B2C2"/>
                </a:solidFill>
                <a:latin typeface="Consolas"/>
              </a:rPr>
              <a:t>Source: Stillform App.jsx: reliabilityScore, loop history, nudge event telemetry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2064" y="109728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APPLIED SCIENCE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7B2C2"/>
                </a:solidFill>
                <a:latin typeface="Consolas"/>
              </a:rPr>
              <a:t>09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CF0F5"/>
                </a:solidFill>
                <a:latin typeface="Calibri"/>
              </a:rPr>
              <a:t>UAT Decision Instrument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927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7B2C2"/>
                </a:solidFill>
                <a:latin typeface="Calibri"/>
              </a:rPr>
              <a:t>Testing now scores mechanism quality, not vague sentiment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7406640" cy="425196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60120" y="2240280"/>
          <a:ext cx="690372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21040" y="1920240"/>
            <a:ext cx="3383280" cy="425196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2240280"/>
            <a:ext cx="292608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7B2C2"/>
                </a:solidFill>
                <a:latin typeface="Consolas"/>
              </a:rPr>
              <a:t>QUESTIONS</a:t>
            </a:r>
          </a:p>
          <a:p>
            <a:r>
              <a:rPr sz="3400" b="1">
                <a:solidFill>
                  <a:srgbClr val="EBAB4A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429000"/>
            <a:ext cx="292608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7B2C2"/>
                </a:solidFill>
                <a:latin typeface="Consolas"/>
              </a:rPr>
              <a:t>MODE</a:t>
            </a:r>
          </a:p>
          <a:p>
            <a:r>
              <a:rPr sz="3400" b="1">
                <a:solidFill>
                  <a:srgbClr val="65BF95"/>
                </a:solidFill>
                <a:latin typeface="Calibri"/>
              </a:rPr>
              <a:t>Operator-grade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572000"/>
            <a:ext cx="292608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7B2C2"/>
                </a:solidFill>
                <a:latin typeface="Consolas"/>
              </a:rPr>
              <a:t>PURPOSE</a:t>
            </a:r>
          </a:p>
          <a:p>
            <a:r>
              <a:rPr sz="3400" b="1">
                <a:solidFill>
                  <a:srgbClr val="629FF6"/>
                </a:solidFill>
                <a:latin typeface="Calibri"/>
              </a:rPr>
              <a:t>Ship decisions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7B2C2"/>
                </a:solidFill>
                <a:latin typeface="Consolas"/>
              </a:rPr>
              <a:t>Source: public/uat-roadmap.html tester ask section (updated)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31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2064" y="109728"/>
            <a:ext cx="7772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APPLIED SCIENCE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7B2C2"/>
                </a:solidFill>
                <a:latin typeface="Consolas"/>
              </a:rPr>
              <a:t>10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CF0F5"/>
                </a:solidFill>
                <a:latin typeface="Calibri"/>
              </a:rPr>
              <a:t>Closing 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927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7B2C2"/>
                </a:solidFill>
                <a:latin typeface="Calibri"/>
              </a:rPr>
              <a:t>Applied science -&gt; composure skill -&gt; better decisions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10561320" cy="3840480"/>
          </a:xfrm>
          <a:prstGeom prst="roundRect">
            <a:avLst/>
          </a:prstGeom>
          <a:solidFill>
            <a:srgbClr val="131924"/>
          </a:solidFill>
          <a:ln w="13970">
            <a:solidFill>
              <a:srgbClr val="3B4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468880"/>
            <a:ext cx="9875520" cy="3063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ECF0F5"/>
                </a:solidFill>
                <a:latin typeface="Calibri"/>
              </a:defRPr>
            </a:pPr>
            <a:r>
              <a:t>Stillform is not psychiatric treatment software.</a:t>
            </a:r>
          </a:p>
          <a:p>
            <a:pPr>
              <a:spcAft>
                <a:spcPts val="900"/>
              </a:spcAft>
              <a:defRPr sz="2400" b="1">
                <a:solidFill>
                  <a:srgbClr val="ECF0F5"/>
                </a:solidFill>
                <a:latin typeface="Calibri"/>
              </a:defRPr>
            </a:pPr>
            <a:r>
              <a:t>It is a composure and self-awareness training system.</a:t>
            </a:r>
          </a:p>
          <a:p>
            <a:pPr>
              <a:spcAft>
                <a:spcPts val="900"/>
              </a:spcAft>
              <a:defRPr sz="2400" b="1">
                <a:solidFill>
                  <a:srgbClr val="ECF0F5"/>
                </a:solidFill>
                <a:latin typeface="Calibri"/>
              </a:defRPr>
            </a:pPr>
            <a:r>
              <a:t>The science is applied through daily loops, state-aware interventions, and measurable behavior shift.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7B2C2"/>
                </a:solidFill>
                <a:latin typeface="Consolas"/>
              </a:rPr>
              <a:t>Source: Stillform applied-science model (metacognition, EQ, composure, impulsivity, microbias)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