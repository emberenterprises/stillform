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Rate %</c:v>
                </c:pt>
              </c:strCache>
            </c:strRef>
          </c:tx>
          <c:spPr>
            <a:solidFill>
              <a:srgbClr val="D0973F"/>
            </a:solidFill>
            <a:ln>
              <a:solidFill>
                <a:srgbClr val="D0973F"/>
              </a:solidFill>
            </a:ln>
          </c:spPr>
          <c:cat>
            <c:strRef>
              <c:f>Sheet1!$A$2:$A$5</c:f>
              <c:strCache>
                <c:ptCount val="4"/>
                <c:pt idx="0">
                  <c:v>Uptake</c:v>
                </c:pt>
                <c:pt idx="1">
                  <c:v>Adherence</c:v>
                </c:pt>
                <c:pt idx="2">
                  <c:v>Attrition (Post)</c:v>
                </c:pt>
                <c:pt idx="3">
                  <c:v>Attrition (Follow-up)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92.4</c:v>
                </c:pt>
                <c:pt idx="1">
                  <c:v>61.8</c:v>
                </c:pt>
                <c:pt idx="2">
                  <c:v>18.6</c:v>
                </c:pt>
                <c:pt idx="3">
                  <c:v>28.4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5AAB4"/>
                </a:solidFill>
                <a:latin typeface="DM Sa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E343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5AAB4"/>
                </a:solidFill>
                <a:latin typeface="DM Sans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A5AAB4"/>
              </a:solidFill>
              <a:latin typeface="DM Sa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Evidence Confidence (1-5)</c:v>
                </c:pt>
              </c:strCache>
            </c:strRef>
          </c:tx>
          <c:spPr>
            <a:solidFill>
              <a:srgbClr val="609EF2"/>
            </a:solidFill>
            <a:ln>
              <a:solidFill>
                <a:srgbClr val="609EF2"/>
              </a:solidFill>
            </a:ln>
          </c:spPr>
          <c:cat>
            <c:strRef>
              <c:f>Sheet1!$A$2:$A$7</c:f>
              <c:strCache>
                <c:ptCount val="6"/>
                <c:pt idx="0">
                  <c:v>Breathing</c:v>
                </c:pt>
                <c:pt idx="1">
                  <c:v>Affect Labeling</c:v>
                </c:pt>
                <c:pt idx="2">
                  <c:v>Reappraisal</c:v>
                </c:pt>
                <c:pt idx="3">
                  <c:v>Interoception</c:v>
                </c:pt>
                <c:pt idx="4">
                  <c:v>Loop Adherence</c:v>
                </c:pt>
                <c:pt idx="5">
                  <c:v>AI Personalization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5.0</c:v>
                </c:pt>
                <c:pt idx="1">
                  <c:v>5.0</c:v>
                </c:pt>
                <c:pt idx="2">
                  <c:v>4.5</c:v>
                </c:pt>
                <c:pt idx="3">
                  <c:v>3.5</c:v>
                </c:pt>
                <c:pt idx="4">
                  <c:v>4.0</c:v>
                </c:pt>
                <c:pt idx="5">
                  <c:v>2.5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5AAB4"/>
                </a:solidFill>
                <a:latin typeface="DM Sa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2E343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A5AAB4"/>
                </a:solidFill>
                <a:latin typeface="DM San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Target %</c:v>
                </c:pt>
              </c:strCache>
            </c:strRef>
          </c:tx>
          <c:dPt>
            <c:idx val="0"/>
            <c:spPr>
              <a:solidFill>
                <a:srgbClr val="D0973F"/>
              </a:solidFill>
            </c:spPr>
          </c:dPt>
          <c:dPt>
            <c:idx val="1"/>
            <c:spPr>
              <a:solidFill>
                <a:srgbClr val="609EF2"/>
              </a:solidFill>
            </c:spPr>
          </c:dPt>
          <c:dPt>
            <c:idx val="2"/>
            <c:spPr>
              <a:solidFill>
                <a:srgbClr val="5EBB8D"/>
              </a:solidFill>
            </c:spPr>
          </c:dPt>
          <c:cat>
            <c:strRef>
              <c:f>Sheet1!$A$2:$A$4</c:f>
              <c:strCache>
                <c:ptCount val="3"/>
                <c:pt idx="0">
                  <c:v>Individual</c:v>
                </c:pt>
                <c:pt idx="1">
                  <c:v>Coach / Team</c:v>
                </c:pt>
                <c:pt idx="2">
                  <c:v>Clinical Adjacent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</c:v>
                </c:pt>
                <c:pt idx="1">
                  <c:v>25</c:v>
                </c:pt>
                <c:pt idx="2">
                  <c:v>10</c:v>
                </c:pt>
              </c:numCache>
            </c:numRef>
          </c:val>
        </c:ser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000">
              <a:solidFill>
                <a:srgbClr val="A5AAB4"/>
              </a:solidFill>
              <a:latin typeface="DM San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01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Stillform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Executive strategy brief · composure as preventive risk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148840"/>
            <a:ext cx="10607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EAECEF"/>
                </a:solidFill>
                <a:latin typeface="DM Sans"/>
              </a:defRPr>
            </a:pPr>
            <a:r>
              <a:t>A neuroscience-grounded system that trains composure as a daily operational skill.</a:t>
            </a:r>
          </a:p>
          <a:p>
            <a:pPr>
              <a:spcAft>
                <a:spcPts val="800"/>
              </a:spcAft>
              <a:defRPr sz="1900">
                <a:solidFill>
                  <a:srgbClr val="EAECEF"/>
                </a:solidFill>
                <a:latin typeface="DM Sans"/>
              </a:defRPr>
            </a:pPr>
            <a:r>
              <a:t>Built for everyone: leaders, parents, students, teams, and anyone making decisions under load.</a:t>
            </a:r>
          </a:p>
          <a:p>
            <a:pPr>
              <a:spcAft>
                <a:spcPts val="800"/>
              </a:spcAft>
              <a:defRPr sz="1900">
                <a:solidFill>
                  <a:srgbClr val="EAECEF"/>
                </a:solidFill>
                <a:latin typeface="DM Sans"/>
              </a:defRPr>
            </a:pPr>
            <a:r>
              <a:t>Category position: not wellness content, but regulation infrastructure.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The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Composure is a controllable performance variable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10424160" cy="3337560"/>
          </a:xfrm>
          <a:prstGeom prst="roundRect">
            <a:avLst/>
          </a:prstGeom>
          <a:solidFill>
            <a:srgbClr val="12151B"/>
          </a:solidFill>
          <a:ln>
            <a:solidFill>
              <a:srgbClr val="2E34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697480"/>
            <a:ext cx="9692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>
                <a:solidFill>
                  <a:srgbClr val="EAECEF"/>
                </a:solidFill>
                <a:latin typeface="DM Sans"/>
              </a:defRPr>
            </a:pPr>
            <a:r>
              <a:t>When state is misread, judgment degrades.</a:t>
            </a:r>
          </a:p>
          <a:p>
            <a:pPr>
              <a:spcAft>
                <a:spcPts val="800"/>
              </a:spcAft>
              <a:defRPr sz="2900">
                <a:solidFill>
                  <a:srgbClr val="EAECEF"/>
                </a:solidFill>
                <a:latin typeface="DM Sans"/>
              </a:defRPr>
            </a:pPr>
            <a:r>
              <a:t>When state is regulated, perspective widens.</a:t>
            </a:r>
          </a:p>
          <a:p>
            <a:pPr>
              <a:spcAft>
                <a:spcPts val="800"/>
              </a:spcAft>
              <a:defRPr sz="2900">
                <a:solidFill>
                  <a:srgbClr val="EAECEF"/>
                </a:solidFill>
                <a:latin typeface="DM Sans"/>
              </a:defRPr>
            </a:pPr>
            <a:r>
              <a:t>When perspective widens, outcomes improve.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Market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Engagement is the bottleneck, not initial interest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2057400"/>
          <a:ext cx="56235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29400" y="2148840"/>
            <a:ext cx="48920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2148840"/>
            <a:ext cx="4892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AECEF"/>
                </a:solidFill>
                <a:latin typeface="DM Sans"/>
              </a:defRPr>
            </a:pPr>
            <a:r>
              <a:t>The market converts attention; it loses continuity.</a:t>
            </a:r>
          </a:p>
          <a:p>
            <a:pPr>
              <a:spcAft>
                <a:spcPts val="800"/>
              </a:spcAft>
              <a:defRPr sz="1500">
                <a:solidFill>
                  <a:srgbClr val="EAECEF"/>
                </a:solidFill>
                <a:latin typeface="DM Sans"/>
              </a:defRPr>
            </a:pPr>
            <a:r>
              <a:t>Stillform is designed around continuity loops: morning baseline, intervention, evening close.</a:t>
            </a:r>
          </a:p>
          <a:p>
            <a:pPr>
              <a:spcAft>
                <a:spcPts val="800"/>
              </a:spcAft>
              <a:defRPr sz="1500">
                <a:solidFill>
                  <a:srgbClr val="EAECEF"/>
                </a:solidFill>
                <a:latin typeface="DM Sans"/>
              </a:defRPr>
            </a:pPr>
            <a:r>
              <a:t>Research signal is consistent: reminders and accountability improve retention; gamification does not.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Mechanism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Body-first and thought-first pathways in one operating system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560320"/>
            <a:ext cx="1828800" cy="1828800"/>
          </a:xfrm>
          <a:prstGeom prst="ellipse">
            <a:avLst/>
          </a:prstGeom>
          <a:solidFill>
            <a:srgbClr val="12151B"/>
          </a:solidFill>
          <a:ln w="25400">
            <a:solidFill>
              <a:srgbClr val="609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1872" y="3063240"/>
            <a:ext cx="15087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AECEF"/>
                </a:solidFill>
                <a:latin typeface="DM Sans"/>
              </a:rPr>
              <a:t>State Detection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53511" y="3246120"/>
            <a:ext cx="731520" cy="329184"/>
          </a:xfrm>
          <a:prstGeom prst="rightArrow">
            <a:avLst/>
          </a:prstGeom>
          <a:solidFill>
            <a:srgbClr val="A5A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40480" y="2560320"/>
            <a:ext cx="1828800" cy="1828800"/>
          </a:xfrm>
          <a:prstGeom prst="ellipse">
            <a:avLst/>
          </a:prstGeom>
          <a:solidFill>
            <a:srgbClr val="12151B"/>
          </a:solidFill>
          <a:ln w="25400">
            <a:solidFill>
              <a:srgbClr val="D09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05072" y="3063240"/>
            <a:ext cx="15087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AECEF"/>
                </a:solidFill>
                <a:latin typeface="DM Sans"/>
              </a:rPr>
              <a:t>Right Intervention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696711" y="3246120"/>
            <a:ext cx="731520" cy="329184"/>
          </a:xfrm>
          <a:prstGeom prst="rightArrow">
            <a:avLst/>
          </a:prstGeom>
          <a:solidFill>
            <a:srgbClr val="A5A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0" y="2560320"/>
            <a:ext cx="1828800" cy="1828800"/>
          </a:xfrm>
          <a:prstGeom prst="ellipse">
            <a:avLst/>
          </a:prstGeom>
          <a:solidFill>
            <a:srgbClr val="12151B"/>
          </a:solidFill>
          <a:ln w="25400">
            <a:solidFill>
              <a:srgbClr val="5EBB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48272" y="3063240"/>
            <a:ext cx="15087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AECEF"/>
                </a:solidFill>
                <a:latin typeface="DM Sans"/>
              </a:rPr>
              <a:t>Daily Closure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439911" y="3246120"/>
            <a:ext cx="731520" cy="329184"/>
          </a:xfrm>
          <a:prstGeom prst="rightArrow">
            <a:avLst/>
          </a:prstGeom>
          <a:solidFill>
            <a:srgbClr val="A5A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26880" y="2560320"/>
            <a:ext cx="1828800" cy="1828800"/>
          </a:xfrm>
          <a:prstGeom prst="ellipse">
            <a:avLst/>
          </a:prstGeom>
          <a:solidFill>
            <a:srgbClr val="12151B"/>
          </a:solidFill>
          <a:ln w="25400">
            <a:solidFill>
              <a:srgbClr val="A38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91472" y="3063240"/>
            <a:ext cx="15087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AECEF"/>
                </a:solidFill>
                <a:latin typeface="DM Sans"/>
              </a:rPr>
              <a:t>Pattern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0060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AECEF"/>
                </a:solidFill>
                <a:latin typeface="DM Sans"/>
              </a:defRPr>
            </a:pPr>
            <a:r>
              <a:t>This is the operating loop: detect accurately, regulate quickly, close deliberately, learn longitudinally.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Evidence confidence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Mechanism confidence weighted by current literature depth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874519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06640" y="2011680"/>
            <a:ext cx="4069080" cy="3886200"/>
          </a:xfrm>
          <a:prstGeom prst="roundRect">
            <a:avLst/>
          </a:prstGeom>
          <a:solidFill>
            <a:srgbClr val="12151B"/>
          </a:solidFill>
          <a:ln>
            <a:solidFill>
              <a:srgbClr val="2E34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331720"/>
            <a:ext cx="3611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EAECEF"/>
                </a:solidFill>
                <a:latin typeface="DM Sans"/>
              </a:defRPr>
            </a:pPr>
            <a:r>
              <a:t>High confidence: breathing, labeling, reappraisal.</a:t>
            </a:r>
          </a:p>
          <a:p>
            <a:pPr>
              <a:spcAft>
                <a:spcPts val="800"/>
              </a:spcAft>
              <a:defRPr sz="1300">
                <a:solidFill>
                  <a:srgbClr val="EAECEF"/>
                </a:solidFill>
                <a:latin typeface="DM Sans"/>
              </a:defRPr>
            </a:pPr>
            <a:r>
              <a:t>Good confidence: interoceptive routing, adherence loops.</a:t>
            </a:r>
          </a:p>
          <a:p>
            <a:pPr>
              <a:spcAft>
                <a:spcPts val="800"/>
              </a:spcAft>
              <a:defRPr sz="1300">
                <a:solidFill>
                  <a:srgbClr val="EAECEF"/>
                </a:solidFill>
                <a:latin typeface="DM Sans"/>
              </a:defRPr>
            </a:pPr>
            <a:r>
              <a:t>Emerging confidence: longitudinal AI personalization impact.</a:t>
            </a:r>
          </a:p>
          <a:p>
            <a:pPr>
              <a:spcAft>
                <a:spcPts val="800"/>
              </a:spcAft>
              <a:defRPr sz="1300">
                <a:solidFill>
                  <a:srgbClr val="EAECEF"/>
                </a:solidFill>
                <a:latin typeface="DM Sans"/>
              </a:defRPr>
            </a:pPr>
            <a:r>
              <a:t>Execution rule: claim only what evidence supports.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Product proof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How the app makes change visible without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ECEF"/>
                </a:solidFill>
                <a:latin typeface="DM Sans"/>
              </a:defRPr>
            </a:pPr>
            <a:r>
              <a:t>Composure telemetry: 12-week behavioral trace.</a:t>
            </a:r>
          </a:p>
          <a:p>
            <a:pPr>
              <a:spcAft>
                <a:spcPts val="800"/>
              </a:spcAft>
              <a:defRPr sz="1800">
                <a:solidFill>
                  <a:srgbClr val="EAECEF"/>
                </a:solidFill>
                <a:latin typeface="DM Sans"/>
              </a:defRPr>
            </a:pPr>
            <a:r>
              <a:t>Proof of change: pre/post shift trend, loop reliability, intervention recovery.</a:t>
            </a:r>
          </a:p>
          <a:p>
            <a:pPr>
              <a:spcAft>
                <a:spcPts val="800"/>
              </a:spcAft>
              <a:defRPr sz="1800">
                <a:solidFill>
                  <a:srgbClr val="EAECEF"/>
                </a:solidFill>
                <a:latin typeface="DM Sans"/>
              </a:defRPr>
            </a:pPr>
            <a:r>
              <a:t>Pattern intelligence: tool efficacy, signal clusters, blind-spot recurrence.</a:t>
            </a:r>
          </a:p>
          <a:p>
            <a:pPr>
              <a:spcAft>
                <a:spcPts val="800"/>
              </a:spcAft>
              <a:defRPr sz="1800">
                <a:solidFill>
                  <a:srgbClr val="EAECEF"/>
                </a:solidFill>
                <a:latin typeface="DM Sans"/>
              </a:defRPr>
            </a:pPr>
            <a:r>
              <a:t>Integrity guard: evidence-calibrated claims only (supports regulation, no clinical overreach).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Premium trust product with layered distribution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22960" y="1828800"/>
          <a:ext cx="43891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77840" y="2011680"/>
            <a:ext cx="5577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AECEF"/>
                </a:solidFill>
                <a:latin typeface="DM Sans"/>
              </a:defRPr>
            </a:pPr>
            <a:r>
              <a:t>Consumer-first model keeps product velocity high.</a:t>
            </a:r>
          </a:p>
          <a:p>
            <a:pPr>
              <a:spcAft>
                <a:spcPts val="800"/>
              </a:spcAft>
              <a:defRPr sz="1500">
                <a:solidFill>
                  <a:srgbClr val="EAECEF"/>
                </a:solidFill>
                <a:latin typeface="DM Sans"/>
              </a:defRPr>
            </a:pPr>
            <a:r>
              <a:t>Coach and team channels layer accountability and raise retention.</a:t>
            </a:r>
          </a:p>
          <a:p>
            <a:pPr>
              <a:spcAft>
                <a:spcPts val="800"/>
              </a:spcAft>
              <a:defRPr sz="1500">
                <a:solidFill>
                  <a:srgbClr val="EAECEF"/>
                </a:solidFill>
                <a:latin typeface="DM Sans"/>
              </a:defRPr>
            </a:pPr>
            <a:r>
              <a:t>Clinical-adjacent channel is post-traction, compliance-gated.</a:t>
            </a:r>
          </a:p>
          <a:p>
            <a:pPr>
              <a:spcAft>
                <a:spcPts val="800"/>
              </a:spcAft>
              <a:defRPr sz="1500">
                <a:solidFill>
                  <a:srgbClr val="EAECEF"/>
                </a:solidFill>
                <a:latin typeface="DM Sans"/>
              </a:defRPr>
            </a:pPr>
            <a:r>
              <a:t>Pricing logic: premium trust product, not volume-churn utility.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Go-to-market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Beachhead to scale without losing product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ECEF"/>
                </a:solidFill>
                <a:latin typeface="DM Sans"/>
              </a:defRPr>
            </a:pPr>
            <a:r>
              <a:t>Phase A: direct users proving retention and measurable gains.</a:t>
            </a:r>
          </a:p>
          <a:p>
            <a:pPr>
              <a:spcAft>
                <a:spcPts val="800"/>
              </a:spcAft>
              <a:defRPr sz="1800">
                <a:solidFill>
                  <a:srgbClr val="EAECEF"/>
                </a:solidFill>
                <a:latin typeface="DM Sans"/>
              </a:defRPr>
            </a:pPr>
            <a:r>
              <a:t>Phase B: executive coaches and high-trust practitioners as multipliers.</a:t>
            </a:r>
          </a:p>
          <a:p>
            <a:pPr>
              <a:spcAft>
                <a:spcPts val="800"/>
              </a:spcAft>
              <a:defRPr sz="1800">
                <a:solidFill>
                  <a:srgbClr val="EAECEF"/>
                </a:solidFill>
                <a:latin typeface="DM Sans"/>
              </a:defRPr>
            </a:pPr>
            <a:r>
              <a:t>Phase C: selective clinical-adjacent partnerships after outcome stability.</a:t>
            </a:r>
          </a:p>
          <a:p>
            <a:pPr>
              <a:spcAft>
                <a:spcPts val="800"/>
              </a:spcAft>
              <a:defRPr sz="1800">
                <a:solidFill>
                  <a:srgbClr val="EAECEF"/>
                </a:solidFill>
                <a:latin typeface="DM Sans"/>
              </a:defRPr>
            </a:pPr>
            <a:r>
              <a:t>Commercial principle: distribution expands only after mechanism quality is stable.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Execution cadence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Three operating phases with hard quality gates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48840"/>
            <a:ext cx="3611880" cy="3154680"/>
          </a:xfrm>
          <a:prstGeom prst="roundRect">
            <a:avLst/>
          </a:prstGeom>
          <a:solidFill>
            <a:srgbClr val="12151B"/>
          </a:solidFill>
          <a:ln>
            <a:solidFill>
              <a:srgbClr val="2E34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39572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D0973F"/>
                </a:solidFill>
                <a:latin typeface="IBM Plex Mono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697480"/>
            <a:ext cx="3154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EAECEF"/>
                </a:solidFill>
                <a:latin typeface="DM Sans"/>
              </a:rPr>
              <a:t>Reliability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182112"/>
            <a:ext cx="315468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5AAB4"/>
                </a:solidFill>
                <a:latin typeface="DM Sans"/>
              </a:rPr>
              <a:t>Subscription truth, cloud integrity, zero-friction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2148840"/>
            <a:ext cx="3611880" cy="3154680"/>
          </a:xfrm>
          <a:prstGeom prst="roundRect">
            <a:avLst/>
          </a:prstGeom>
          <a:solidFill>
            <a:srgbClr val="191D25"/>
          </a:solidFill>
          <a:ln>
            <a:solidFill>
              <a:srgbClr val="2E34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6048" y="239572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D0973F"/>
                </a:solidFill>
                <a:latin typeface="IBM Plex Mono"/>
              </a:rPr>
              <a:t>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97480"/>
            <a:ext cx="3154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EAECEF"/>
                </a:solidFill>
                <a:latin typeface="DM Sans"/>
              </a:rPr>
              <a:t>Retention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3182112"/>
            <a:ext cx="315468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5AAB4"/>
                </a:solidFill>
                <a:latin typeface="DM Sans"/>
              </a:rPr>
              <a:t>Nudge recovery, visible progress, daily adherence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48840"/>
            <a:ext cx="3611880" cy="3154680"/>
          </a:xfrm>
          <a:prstGeom prst="roundRect">
            <a:avLst/>
          </a:prstGeom>
          <a:solidFill>
            <a:srgbClr val="12151B"/>
          </a:solidFill>
          <a:ln>
            <a:solidFill>
              <a:srgbClr val="2E34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42248" y="239572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D0973F"/>
                </a:solidFill>
                <a:latin typeface="IBM Plex Mono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2248" y="2697480"/>
            <a:ext cx="3154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EAECEF"/>
                </a:solidFill>
                <a:latin typeface="DM Sans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2248" y="3182112"/>
            <a:ext cx="315468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A5AAB4"/>
                </a:solidFill>
                <a:latin typeface="DM Sans"/>
              </a:rPr>
              <a:t>Coach channel, selective B2B, outcome reporting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Risk and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Known risks are explicitly bounded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74519"/>
          <a:ext cx="10972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011680"/>
                <a:gridCol w="3840480"/>
                <a:gridCol w="2880360"/>
              </a:tblGrid>
              <a:tr h="905256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D0973F"/>
                          </a:solidFill>
                          <a:latin typeface="DM Sans"/>
                        </a:rPr>
                        <a:t>Risk</a:t>
                      </a:r>
                    </a:p>
                  </a:txBody>
                  <a:tcPr>
                    <a:solidFill>
                      <a:srgbClr val="1215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D0973F"/>
                          </a:solidFill>
                          <a:latin typeface="DM Sans"/>
                        </a:rPr>
                        <a:t>Exposure</a:t>
                      </a:r>
                    </a:p>
                  </a:txBody>
                  <a:tcPr>
                    <a:solidFill>
                      <a:srgbClr val="1215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D0973F"/>
                          </a:solidFill>
                          <a:latin typeface="DM Sans"/>
                        </a:rPr>
                        <a:t>Control</a:t>
                      </a:r>
                    </a:p>
                  </a:txBody>
                  <a:tcPr>
                    <a:solidFill>
                      <a:srgbClr val="1215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D0973F"/>
                          </a:solidFill>
                          <a:latin typeface="DM Sans"/>
                        </a:rPr>
                        <a:t>Owner Signal</a:t>
                      </a:r>
                    </a:p>
                  </a:txBody>
                  <a:tcPr>
                    <a:solidFill>
                      <a:srgbClr val="12151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Overclaim risk</a:t>
                      </a:r>
                    </a:p>
                  </a:txBody>
                  <a:tcPr>
                    <a:solidFill>
                      <a:srgbClr val="09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Trust erosion</a:t>
                      </a:r>
                    </a:p>
                  </a:txBody>
                  <a:tcPr>
                    <a:solidFill>
                      <a:srgbClr val="09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Strict evidence language policy</a:t>
                      </a:r>
                    </a:p>
                  </a:txBody>
                  <a:tcPr>
                    <a:solidFill>
                      <a:srgbClr val="09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Claim audit pass rate</a:t>
                      </a:r>
                    </a:p>
                  </a:txBody>
                  <a:tcPr>
                    <a:solidFill>
                      <a:srgbClr val="090B0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Retention decay</a:t>
                      </a:r>
                    </a:p>
                  </a:txBody>
                  <a:tcPr>
                    <a:solidFill>
                      <a:srgbClr val="191D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No long-term outcome</a:t>
                      </a:r>
                    </a:p>
                  </a:txBody>
                  <a:tcPr>
                    <a:solidFill>
                      <a:srgbClr val="191D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Daily loop + recovery nudges</a:t>
                      </a:r>
                    </a:p>
                  </a:txBody>
                  <a:tcPr>
                    <a:solidFill>
                      <a:srgbClr val="191D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14d completion and recovery</a:t>
                      </a:r>
                    </a:p>
                  </a:txBody>
                  <a:tcPr>
                    <a:solidFill>
                      <a:srgbClr val="191D25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AI overreliance</a:t>
                      </a:r>
                    </a:p>
                  </a:txBody>
                  <a:tcPr>
                    <a:solidFill>
                      <a:srgbClr val="09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Skill transfer failure</a:t>
                      </a:r>
                    </a:p>
                  </a:txBody>
                  <a:tcPr>
                    <a:solidFill>
                      <a:srgbClr val="09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Self-guided fallback and action prompts</a:t>
                      </a:r>
                    </a:p>
                  </a:txBody>
                  <a:tcPr>
                    <a:solidFill>
                      <a:srgbClr val="090B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Self-guided success rate</a:t>
                      </a:r>
                    </a:p>
                  </a:txBody>
                  <a:tcPr>
                    <a:solidFill>
                      <a:srgbClr val="090B0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Operational drift</a:t>
                      </a:r>
                    </a:p>
                  </a:txBody>
                  <a:tcPr>
                    <a:solidFill>
                      <a:srgbClr val="191D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Quality inconsistency</a:t>
                      </a:r>
                    </a:p>
                  </a:txBody>
                  <a:tcPr>
                    <a:solidFill>
                      <a:srgbClr val="191D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SHIP preflight + invariant checks</a:t>
                      </a:r>
                    </a:p>
                  </a:txBody>
                  <a:tcPr>
                    <a:solidFill>
                      <a:srgbClr val="191D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AECEF"/>
                          </a:solidFill>
                          <a:latin typeface="DM Sans"/>
                        </a:rPr>
                        <a:t>Preflight pass rate</a:t>
                      </a:r>
                    </a:p>
                  </a:txBody>
                  <a:tcPr>
                    <a:solidFill>
                      <a:srgbClr val="191D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Operator scoreboard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The metrics that decide if the system is truly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EAECEF"/>
                </a:solidFill>
                <a:latin typeface="DM Sans"/>
              </a:defRPr>
            </a:pPr>
            <a:r>
              <a:t>Activation: first-session completion and first-week return.</a:t>
            </a:r>
          </a:p>
          <a:p>
            <a:pPr>
              <a:spcAft>
                <a:spcPts val="800"/>
              </a:spcAft>
              <a:defRPr sz="1700">
                <a:solidFill>
                  <a:srgbClr val="EAECEF"/>
                </a:solidFill>
                <a:latin typeface="DM Sans"/>
              </a:defRPr>
            </a:pPr>
            <a:r>
              <a:t>Behavior: morning/EOD loop completion and nudge recovery.</a:t>
            </a:r>
          </a:p>
          <a:p>
            <a:pPr>
              <a:spcAft>
                <a:spcPts val="800"/>
              </a:spcAft>
              <a:defRPr sz="1700">
                <a:solidFill>
                  <a:srgbClr val="EAECEF"/>
                </a:solidFill>
                <a:latin typeface="DM Sans"/>
              </a:defRPr>
            </a:pPr>
            <a:r>
              <a:t>Regulation: pre/post composure shift and time-to-stabilization.</a:t>
            </a:r>
          </a:p>
          <a:p>
            <a:pPr>
              <a:spcAft>
                <a:spcPts val="800"/>
              </a:spcAft>
              <a:defRPr sz="1700">
                <a:solidFill>
                  <a:srgbClr val="EAECEF"/>
                </a:solidFill>
                <a:latin typeface="DM Sans"/>
              </a:defRPr>
            </a:pPr>
            <a:r>
              <a:t>Durability: 14/30-day retention and self-guided success during outages.</a:t>
            </a:r>
          </a:p>
          <a:p>
            <a:pPr>
              <a:spcAft>
                <a:spcPts val="800"/>
              </a:spcAft>
              <a:defRPr sz="1700">
                <a:solidFill>
                  <a:srgbClr val="EAECEF"/>
                </a:solidFill>
                <a:latin typeface="DM Sans"/>
              </a:defRPr>
            </a:pPr>
            <a:r>
              <a:t>Trust: claim-audit compliance and zero critical safety regressions.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2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09728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D0973F"/>
                </a:solidFill>
                <a:latin typeface="IBM Plex Mono"/>
              </a:rPr>
              <a:t>STILLFORM · EXECUTIVE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09728"/>
            <a:ext cx="1737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AB4"/>
                </a:solidFill>
                <a:latin typeface="IBM Plex Mono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>
                <a:solidFill>
                  <a:srgbClr val="D0973F"/>
                </a:solidFill>
                <a:latin typeface="Cormorant Garamond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499616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AB4"/>
                </a:solidFill>
                <a:latin typeface="DM Sans"/>
              </a:rPr>
              <a:t>Build the system people can trust when stakes are high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2057400"/>
            <a:ext cx="10012680" cy="3566160"/>
          </a:xfrm>
          <a:prstGeom prst="roundRect">
            <a:avLst/>
          </a:prstGeom>
          <a:solidFill>
            <a:srgbClr val="12151B"/>
          </a:solidFill>
          <a:ln>
            <a:solidFill>
              <a:srgbClr val="2E34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743200"/>
            <a:ext cx="9144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EAECEF"/>
                </a:solidFill>
                <a:latin typeface="DM Sans"/>
              </a:defRPr>
            </a:pPr>
            <a:r>
              <a:t>Stillform does not sell calm.</a:t>
            </a:r>
          </a:p>
          <a:p>
            <a:pPr>
              <a:spcAft>
                <a:spcPts val="800"/>
              </a:spcAft>
              <a:defRPr sz="2400">
                <a:solidFill>
                  <a:srgbClr val="EAECEF"/>
                </a:solidFill>
                <a:latin typeface="DM Sans"/>
              </a:defRPr>
            </a:pPr>
            <a:r>
              <a:t>Stillform builds composure as a repeatable capability.</a:t>
            </a:r>
          </a:p>
          <a:p>
            <a:pPr>
              <a:spcAft>
                <a:spcPts val="800"/>
              </a:spcAft>
              <a:defRPr sz="2400">
                <a:solidFill>
                  <a:srgbClr val="EAECEF"/>
                </a:solidFill>
                <a:latin typeface="DM Sans"/>
              </a:defRPr>
            </a:pPr>
            <a:r>
              <a:t>That capability compounds into better decisions, cleaner relationships, and lower long-tail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