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Global adults (%)</c:v>
                </c:pt>
              </c:strCache>
            </c:strRef>
          </c:tx>
          <c:spPr>
            <a:solidFill>
              <a:srgbClr val="EBAB4A"/>
            </a:solidFill>
            <a:ln>
              <a:solidFill>
                <a:srgbClr val="EBAB4A"/>
              </a:solidFill>
            </a:ln>
          </c:spPr>
          <c:cat>
            <c:strRef>
              <c:f>Sheet1!$A$2:$A$6</c:f>
              <c:strCache>
                <c:ptCount val="5"/>
                <c:pt idx="0">
                  <c:v>Worry</c:v>
                </c:pt>
                <c:pt idx="1">
                  <c:v>Stress</c:v>
                </c:pt>
                <c:pt idx="2">
                  <c:v>Physical pain</c:v>
                </c:pt>
                <c:pt idx="3">
                  <c:v>Sadness</c:v>
                </c:pt>
                <c:pt idx="4">
                  <c:v>Anger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</c:v>
                </c:pt>
                <c:pt idx="1">
                  <c:v>37</c:v>
                </c:pt>
                <c:pt idx="2">
                  <c:v>32</c:v>
                </c:pt>
                <c:pt idx="3">
                  <c:v>26</c:v>
                </c:pt>
                <c:pt idx="4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6B0BF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0"/>
        </c:scaling>
        <c:delete val="0"/>
        <c:axPos val="b"/>
        <c:majorGridlines>
          <c:spPr>
            <a:ln>
              <a:solidFill>
                <a:srgbClr val="363F4F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6B0BF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People affected (millions)</c:v>
                </c:pt>
              </c:strCache>
            </c:strRef>
          </c:tx>
          <c:spPr>
            <a:solidFill>
              <a:srgbClr val="5E99F4"/>
            </a:solidFill>
            <a:ln>
              <a:solidFill>
                <a:srgbClr val="5E99F4"/>
              </a:solidFill>
            </a:ln>
          </c:spPr>
          <c:cat>
            <c:strRef>
              <c:f>Sheet1!$A$2:$A$5</c:f>
              <c:strCache>
                <c:ptCount val="4"/>
                <c:pt idx="0">
                  <c:v>Anxiety</c:v>
                </c:pt>
                <c:pt idx="1">
                  <c:v>Depression</c:v>
                </c:pt>
                <c:pt idx="2">
                  <c:v>Bipolar</c:v>
                </c:pt>
                <c:pt idx="3">
                  <c:v>Schizophrenia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359</c:v>
                </c:pt>
                <c:pt idx="1">
                  <c:v>280</c:v>
                </c:pt>
                <c:pt idx="2">
                  <c:v>37</c:v>
                </c:pt>
                <c:pt idx="3">
                  <c:v>23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6B0BF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363F4F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6B0BF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 apps</c:v>
                </c:pt>
              </c:strCache>
            </c:strRef>
          </c:tx>
          <c:spPr>
            <a:ln w="33020">
              <a:solidFill>
                <a:srgbClr val="D76060"/>
              </a:solidFill>
            </a:ln>
          </c:spPr>
          <c:marker>
            <c:symbol val="diamond"/>
            <c:size val="7"/>
            <c:spPr>
              <a:solidFill>
                <a:srgbClr val="D76060"/>
              </a:solidFill>
            </c:spPr>
          </c:marker>
          <c:cat>
            <c:strRef>
              <c:f>Sheet1!$A$2:$A$4</c:f>
              <c:strCache>
                <c:ptCount val="3"/>
                <c:pt idx="0">
                  <c:v>Day 1</c:v>
                </c:pt>
                <c:pt idx="1">
                  <c:v>Day 7</c:v>
                </c:pt>
                <c:pt idx="2">
                  <c:v>Day 30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28.29</c:v>
                </c:pt>
                <c:pt idx="1">
                  <c:v>17.86</c:v>
                </c:pt>
                <c:pt idx="2">
                  <c:v>7.88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Health &amp; fitness</c:v>
                </c:pt>
              </c:strCache>
            </c:strRef>
          </c:tx>
          <c:spPr>
            <a:ln w="33020">
              <a:solidFill>
                <a:srgbClr val="63BF93"/>
              </a:solidFill>
            </a:ln>
          </c:spPr>
          <c:marker>
            <c:symbol val="diamond"/>
            <c:size val="7"/>
            <c:spPr>
              <a:solidFill>
                <a:srgbClr val="63BF93"/>
              </a:solidFill>
            </c:spPr>
          </c:marker>
          <c:cat>
            <c:strRef>
              <c:f>Sheet1!$A$2:$A$4</c:f>
              <c:strCache>
                <c:ptCount val="3"/>
                <c:pt idx="0">
                  <c:v>Day 1</c:v>
                </c:pt>
                <c:pt idx="1">
                  <c:v>Day 7</c:v>
                </c:pt>
                <c:pt idx="2">
                  <c:v>Day 30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28.0</c:v>
                </c:pt>
                <c:pt idx="1">
                  <c:v>18.13</c:v>
                </c:pt>
                <c:pt idx="2">
                  <c:v>8.48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6B0BF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2.0"/>
          <c:min val="0.0"/>
        </c:scaling>
        <c:delete val="0"/>
        <c:axPos val="l"/>
        <c:majorGridlines>
          <c:spPr>
            <a:ln>
              <a:solidFill>
                <a:srgbClr val="363F4F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6B0BF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solidFill>
                <a:srgbClr val="A6B0BF"/>
              </a:solidFill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Formal care</c:v>
                </c:pt>
              </c:strCache>
            </c:strRef>
          </c:tx>
          <c:spPr>
            <a:solidFill>
              <a:srgbClr val="63BF93"/>
            </a:solidFill>
            <a:ln>
              <a:solidFill>
                <a:srgbClr val="63BF93"/>
              </a:solidFill>
            </a:ln>
          </c:spPr>
          <c:cat>
            <c:strRef>
              <c:f>Sheet1!$A$2:$A$3</c:f>
              <c:strCache>
                <c:ptCount val="2"/>
                <c:pt idx="0">
                  <c:v>Psychosis</c:v>
                </c:pt>
                <c:pt idx="1">
                  <c:v>Depression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 formal care</c:v>
                </c:pt>
              </c:strCache>
            </c:strRef>
          </c:tx>
          <c:spPr>
            <a:solidFill>
              <a:srgbClr val="D76060"/>
            </a:solidFill>
            <a:ln>
              <a:solidFill>
                <a:srgbClr val="D76060"/>
              </a:solidFill>
            </a:ln>
          </c:spPr>
          <c:cat>
            <c:strRef>
              <c:f>Sheet1!$A$2:$A$3</c:f>
              <c:strCache>
                <c:ptCount val="2"/>
                <c:pt idx="0">
                  <c:v>Psychosis</c:v>
                </c:pt>
                <c:pt idx="1">
                  <c:v>Depression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71</c:v>
                </c:pt>
                <c:pt idx="1">
                  <c:v>67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6B0BF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>
          <c:spPr>
            <a:ln>
              <a:solidFill>
                <a:srgbClr val="363F4F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6B0BF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A6B0BF"/>
              </a:solidFill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SMD (Hedges g)</c:v>
                </c:pt>
              </c:strCache>
            </c:strRef>
          </c:tx>
          <c:dPt>
            <c:idx val="0"/>
            <c:spPr>
              <a:solidFill>
                <a:srgbClr val="5E99F4"/>
              </a:solidFill>
              <a:ln>
                <a:solidFill>
                  <a:srgbClr val="5E99F4"/>
                </a:solidFill>
              </a:ln>
            </c:spPr>
          </c:dPt>
          <c:dPt>
            <c:idx val="1"/>
            <c:spPr>
              <a:solidFill>
                <a:srgbClr val="63BF93"/>
              </a:solidFill>
              <a:ln>
                <a:solidFill>
                  <a:srgbClr val="63BF93"/>
                </a:solidFill>
              </a:ln>
            </c:spPr>
          </c:dPt>
          <c:dPt>
            <c:idx val="2"/>
            <c:spPr>
              <a:solidFill>
                <a:srgbClr val="9F7AEA"/>
              </a:solidFill>
              <a:ln>
                <a:solidFill>
                  <a:srgbClr val="9F7AEA"/>
                </a:solidFill>
              </a:ln>
            </c:spPr>
          </c:dPt>
          <c:cat>
            <c:strRef>
              <c:f>Sheet1!$A$2:$A$4</c:f>
              <c:strCache>
                <c:ptCount val="3"/>
                <c:pt idx="0">
                  <c:v>Overall mental health</c:v>
                </c:pt>
                <c:pt idx="1">
                  <c:v>Anxiety symptoms</c:v>
                </c:pt>
                <c:pt idx="2">
                  <c:v>Depressive symptoms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0.34</c:v>
                </c:pt>
                <c:pt idx="1">
                  <c:v>0.33</c:v>
                </c:pt>
                <c:pt idx="2">
                  <c:v>0.51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6B0BF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6"/>
          <c:min val="0.0"/>
        </c:scaling>
        <c:delete val="0"/>
        <c:axPos val="l"/>
        <c:majorGridlines>
          <c:spPr>
            <a:ln>
              <a:solidFill>
                <a:srgbClr val="363F4F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6B0BF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21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EXECUTIVE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6B0BF"/>
                </a:solidFill>
                <a:latin typeface="Consolas"/>
              </a:rPr>
              <a:t>01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ECF0F5"/>
                </a:solidFill>
                <a:latin typeface="Calibri"/>
              </a:rPr>
              <a:t>Stillform Executive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6B0BF"/>
                </a:solidFill>
                <a:latin typeface="Calibri"/>
              </a:rPr>
              <a:t>Graph-first strategic view with externally sourced benchmarks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84831"/>
            <a:ext cx="10972800" cy="361188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0320"/>
            <a:ext cx="10241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ECF0F5"/>
                </a:solidFill>
                <a:latin typeface="Calibri"/>
              </a:defRPr>
            </a:pPr>
            <a:r>
              <a:t>Composure as preventive risk management, not passive wellness content.</a:t>
            </a:r>
          </a:p>
          <a:p>
            <a:pPr>
              <a:spcAft>
                <a:spcPts val="1000"/>
              </a:spcAft>
              <a:defRPr sz="2200">
                <a:solidFill>
                  <a:srgbClr val="ECF0F5"/>
                </a:solidFill>
                <a:latin typeface="Calibri"/>
              </a:defRPr>
            </a:pPr>
            <a:r>
              <a:t>Audience is everyone: high-stakes leaders, parents, students, and teams.</a:t>
            </a:r>
          </a:p>
          <a:p>
            <a:pPr>
              <a:spcAft>
                <a:spcPts val="1000"/>
              </a:spcAft>
              <a:defRPr sz="2200">
                <a:solidFill>
                  <a:srgbClr val="ECF0F5"/>
                </a:solidFill>
                <a:latin typeface="Calibri"/>
              </a:defRPr>
            </a:pPr>
            <a:r>
              <a:t>Every quantitative claim on this deck is source-tagged.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6B0BF"/>
                </a:solidFill>
                <a:latin typeface="Consolas"/>
              </a:rPr>
              <a:t>Source: Deck compiled from Gallup, WHO, OneSignal, Frontiers (2023-2025)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21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EXECUTIVE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6B0BF"/>
                </a:solidFill>
                <a:latin typeface="Consolas"/>
              </a:rPr>
              <a:t>02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ECF0F5"/>
                </a:solidFill>
                <a:latin typeface="Calibri"/>
              </a:rPr>
              <a:t>Global Emotional 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6B0BF"/>
                </a:solidFill>
                <a:latin typeface="Calibri"/>
              </a:rPr>
              <a:t>Daily distress indicators remain elevated worldwide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01952"/>
            <a:ext cx="7360920" cy="425196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60120" y="2240280"/>
          <a:ext cx="681228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75320" y="1901952"/>
            <a:ext cx="3246120" cy="425196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2240280"/>
            <a:ext cx="25603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A6B0BF"/>
                </a:solidFill>
                <a:latin typeface="Consolas"/>
              </a:rPr>
              <a:t>WORRY</a:t>
            </a:r>
          </a:p>
          <a:p>
            <a:pPr algn="l"/>
            <a:r>
              <a:rPr sz="3800" b="1">
                <a:solidFill>
                  <a:srgbClr val="D76060"/>
                </a:solidFill>
                <a:latin typeface="Calibri"/>
              </a:rPr>
              <a:t>39%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3401568"/>
            <a:ext cx="25603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A6B0BF"/>
                </a:solidFill>
                <a:latin typeface="Consolas"/>
              </a:rPr>
              <a:t>STRESS</a:t>
            </a:r>
          </a:p>
          <a:p>
            <a:pPr algn="l"/>
            <a:r>
              <a:rPr sz="3800" b="1">
                <a:solidFill>
                  <a:srgbClr val="EBAB4A"/>
                </a:solidFill>
                <a:latin typeface="Calibri"/>
              </a:rPr>
              <a:t>37%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4562856"/>
            <a:ext cx="25603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A6B0BF"/>
                </a:solidFill>
                <a:latin typeface="Consolas"/>
              </a:rPr>
              <a:t>PAIN</a:t>
            </a:r>
          </a:p>
          <a:p>
            <a:pPr algn="l"/>
            <a:r>
              <a:rPr sz="3800" b="1">
                <a:solidFill>
                  <a:srgbClr val="5E99F4"/>
                </a:solidFill>
                <a:latin typeface="Calibri"/>
              </a:rPr>
              <a:t>32%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6B0BF"/>
                </a:solidFill>
                <a:latin typeface="Consolas"/>
              </a:rPr>
              <a:t>Source: Gallup State of the World's Emotional Health (2024 global survey)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21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EXECUTIVE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6B0BF"/>
                </a:solidFill>
                <a:latin typeface="Consolas"/>
              </a:rPr>
              <a:t>03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ECF0F5"/>
                </a:solidFill>
                <a:latin typeface="Calibri"/>
              </a:rPr>
              <a:t>Clinical Need at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6B0BF"/>
                </a:solidFill>
                <a:latin typeface="Calibri"/>
              </a:rPr>
              <a:t>Population burden is large; care access remains constrained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01952"/>
            <a:ext cx="4892040" cy="425196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240280"/>
            <a:ext cx="25603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A6B0BF"/>
                </a:solidFill>
                <a:latin typeface="Consolas"/>
              </a:rPr>
              <a:t>PEOPLE LIVING WITH MENTAL DISORDER</a:t>
            </a:r>
          </a:p>
          <a:p>
            <a:pPr algn="l"/>
            <a:r>
              <a:rPr sz="3800" b="1">
                <a:solidFill>
                  <a:srgbClr val="EBAB4A"/>
                </a:solidFill>
                <a:latin typeface="Calibri"/>
              </a:rPr>
              <a:t>1.1B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77639"/>
            <a:ext cx="4297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ECF0F5"/>
                </a:solidFill>
                <a:latin typeface="Calibri"/>
              </a:rPr>
              <a:t>Nearly 1 in 7 globally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06440" y="1901952"/>
            <a:ext cx="5897880" cy="425196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080760" y="2240280"/>
          <a:ext cx="539496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6B0BF"/>
                </a:solidFill>
                <a:latin typeface="Consolas"/>
              </a:rPr>
              <a:t>Source: WHO Mental Disorders Fact Sheet (2021 prevalence; updated 2025)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21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EXECUTIVE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6B0BF"/>
                </a:solidFill>
                <a:latin typeface="Consolas"/>
              </a:rPr>
              <a:t>04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ECF0F5"/>
                </a:solidFill>
                <a:latin typeface="Calibri"/>
              </a:rPr>
              <a:t>Behavioral Retention Curve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6B0BF"/>
                </a:solidFill>
                <a:latin typeface="Calibri"/>
              </a:rPr>
              <a:t>Steep decay from day 1 to day 30 in mobile usage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01952"/>
            <a:ext cx="11018520" cy="425196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1051560" y="2240280"/>
          <a:ext cx="1028700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6B0BF"/>
                </a:solidFill>
                <a:latin typeface="Consolas"/>
              </a:rPr>
              <a:t>Source: OneSignal Mobile App Benchmarks 2024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21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EXECUTIVE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6B0BF"/>
                </a:solidFill>
                <a:latin typeface="Consolas"/>
              </a:rPr>
              <a:t>05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ECF0F5"/>
                </a:solidFill>
                <a:latin typeface="Calibri"/>
              </a:rPr>
              <a:t>Formal Care Coverage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6B0BF"/>
                </a:solidFill>
                <a:latin typeface="Calibri"/>
              </a:rPr>
              <a:t>Most people with high-burden conditions are untreated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01952"/>
            <a:ext cx="7315200" cy="425196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60120" y="2240280"/>
          <a:ext cx="676656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75320" y="1901952"/>
            <a:ext cx="3429000" cy="425196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224028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CF0F5"/>
                </a:solidFill>
                <a:latin typeface="Calibri"/>
              </a:defRPr>
            </a:pPr>
            <a:r>
              <a:t>Coverage is the strategic hole.</a:t>
            </a:r>
          </a:p>
          <a:p>
            <a:pPr>
              <a:spcAft>
                <a:spcPts val="800"/>
              </a:spcAft>
              <a:defRPr sz="1800">
                <a:solidFill>
                  <a:srgbClr val="ECF0F5"/>
                </a:solidFill>
                <a:latin typeface="Calibri"/>
              </a:defRPr>
            </a:pPr>
            <a:r>
              <a:t>High-burden conditions still show majority untreated.</a:t>
            </a:r>
          </a:p>
          <a:p>
            <a:pPr>
              <a:spcAft>
                <a:spcPts val="800"/>
              </a:spcAft>
              <a:defRPr sz="1800">
                <a:solidFill>
                  <a:srgbClr val="ECF0F5"/>
                </a:solidFill>
                <a:latin typeface="Calibri"/>
              </a:defRPr>
            </a:pPr>
            <a:r>
              <a:t>Preventive systems should lower load before escalation.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6B0BF"/>
                </a:solidFill>
                <a:latin typeface="Consolas"/>
              </a:rPr>
              <a:t>Source: WHO Mental Disorders Fact Sheet; Mental Health Atlas references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21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EXECUTIVE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6B0BF"/>
                </a:solidFill>
                <a:latin typeface="Consolas"/>
              </a:rPr>
              <a:t>06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ECF0F5"/>
                </a:solidFill>
                <a:latin typeface="Calibri"/>
              </a:rPr>
              <a:t>Mechanism Evidence (mHealth Reappraisal)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6B0BF"/>
                </a:solidFill>
                <a:latin typeface="Calibri"/>
              </a:rPr>
              <a:t>Measured effect sizes are positive, moderate, and actionable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01952"/>
            <a:ext cx="7360920" cy="425196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60120" y="2240280"/>
          <a:ext cx="681228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75320" y="1901952"/>
            <a:ext cx="3429000" cy="425196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2240280"/>
            <a:ext cx="25603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A6B0BF"/>
                </a:solidFill>
                <a:latin typeface="Consolas"/>
              </a:rPr>
              <a:t>RCTS</a:t>
            </a:r>
          </a:p>
          <a:p>
            <a:pPr algn="l"/>
            <a:r>
              <a:rPr sz="3800" b="1">
                <a:solidFill>
                  <a:srgbClr val="EBAB4A"/>
                </a:solidFill>
                <a:latin typeface="Calibri"/>
              </a:rPr>
              <a:t>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3401568"/>
            <a:ext cx="25603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A6B0BF"/>
                </a:solidFill>
                <a:latin typeface="Consolas"/>
              </a:rPr>
              <a:t>PARTICIPANTS</a:t>
            </a:r>
          </a:p>
          <a:p>
            <a:pPr algn="l"/>
            <a:r>
              <a:rPr sz="3800" b="1">
                <a:solidFill>
                  <a:srgbClr val="ECF0F5"/>
                </a:solidFill>
                <a:latin typeface="Calibri"/>
              </a:rPr>
              <a:t>3,904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4562856"/>
            <a:ext cx="25603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A6B0BF"/>
                </a:solidFill>
                <a:latin typeface="Consolas"/>
              </a:rPr>
              <a:t>YEAR</a:t>
            </a:r>
          </a:p>
          <a:p>
            <a:pPr algn="l"/>
            <a:r>
              <a:rPr sz="3800" b="1">
                <a:solidFill>
                  <a:srgbClr val="5E99F4"/>
                </a:solidFill>
                <a:latin typeface="Calibri"/>
              </a:rPr>
              <a:t>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6B0BF"/>
                </a:solidFill>
                <a:latin typeface="Consolas"/>
              </a:rPr>
              <a:t>Source: Frontiers in Digital Health (Kunzler et al., 2023; DOI 10.3389/fdgth.2023.1253390)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21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EXECUTIVE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6B0BF"/>
                </a:solidFill>
                <a:latin typeface="Consolas"/>
              </a:rPr>
              <a:t>07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ECF0F5"/>
                </a:solidFill>
                <a:latin typeface="Calibri"/>
              </a:rPr>
              <a:t>Stillform Operating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6B0BF"/>
                </a:solidFill>
                <a:latin typeface="Calibri"/>
              </a:rPr>
              <a:t>Designed for continuity, not one-off motivation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31720"/>
            <a:ext cx="2148840" cy="233172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5E99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459736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5E99F4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3017520"/>
            <a:ext cx="1828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CF0F5"/>
                </a:solidFill>
                <a:latin typeface="Calibri"/>
              </a:rPr>
              <a:t>Morning baseline</a:t>
            </a:r>
          </a:p>
        </p:txBody>
      </p:sp>
      <p:sp>
        <p:nvSpPr>
          <p:cNvPr id="10" name="Chevron 9"/>
          <p:cNvSpPr/>
          <p:nvPr/>
        </p:nvSpPr>
        <p:spPr>
          <a:xfrm>
            <a:off x="2825496" y="3264408"/>
            <a:ext cx="146304" cy="438912"/>
          </a:xfrm>
          <a:prstGeom prst="chevron">
            <a:avLst/>
          </a:prstGeom>
          <a:solidFill>
            <a:srgbClr val="A6B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62656" y="2331720"/>
            <a:ext cx="2148840" cy="233172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63BF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2459736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3BF93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017520"/>
            <a:ext cx="1828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CF0F5"/>
                </a:solidFill>
                <a:latin typeface="Calibri"/>
              </a:rPr>
              <a:t>State detection</a:t>
            </a:r>
          </a:p>
        </p:txBody>
      </p:sp>
      <p:sp>
        <p:nvSpPr>
          <p:cNvPr id="14" name="Chevron 13"/>
          <p:cNvSpPr/>
          <p:nvPr/>
        </p:nvSpPr>
        <p:spPr>
          <a:xfrm>
            <a:off x="5102352" y="3264408"/>
            <a:ext cx="146304" cy="438912"/>
          </a:xfrm>
          <a:prstGeom prst="chevron">
            <a:avLst/>
          </a:prstGeom>
          <a:solidFill>
            <a:srgbClr val="A6B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39512" y="2331720"/>
            <a:ext cx="2148840" cy="233172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EBA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85816" y="2459736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EBAB4A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5816" y="3017520"/>
            <a:ext cx="1828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CF0F5"/>
                </a:solidFill>
                <a:latin typeface="Calibri"/>
              </a:rPr>
              <a:t>Right intervention</a:t>
            </a:r>
          </a:p>
        </p:txBody>
      </p:sp>
      <p:sp>
        <p:nvSpPr>
          <p:cNvPr id="18" name="Chevron 17"/>
          <p:cNvSpPr/>
          <p:nvPr/>
        </p:nvSpPr>
        <p:spPr>
          <a:xfrm>
            <a:off x="7379208" y="3264408"/>
            <a:ext cx="146304" cy="438912"/>
          </a:xfrm>
          <a:prstGeom prst="chevron">
            <a:avLst/>
          </a:prstGeom>
          <a:solidFill>
            <a:srgbClr val="A6B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16368" y="2331720"/>
            <a:ext cx="2148840" cy="233172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9F7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62672" y="2459736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F7AEA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2672" y="3017520"/>
            <a:ext cx="1828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CF0F5"/>
                </a:solidFill>
                <a:latin typeface="Calibri"/>
              </a:rPr>
              <a:t>Post-shift rating</a:t>
            </a:r>
          </a:p>
        </p:txBody>
      </p:sp>
      <p:sp>
        <p:nvSpPr>
          <p:cNvPr id="22" name="Chevron 21"/>
          <p:cNvSpPr/>
          <p:nvPr/>
        </p:nvSpPr>
        <p:spPr>
          <a:xfrm>
            <a:off x="9656064" y="3264408"/>
            <a:ext cx="146304" cy="438912"/>
          </a:xfrm>
          <a:prstGeom prst="chevron">
            <a:avLst/>
          </a:prstGeom>
          <a:solidFill>
            <a:srgbClr val="A6B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93224" y="2331720"/>
            <a:ext cx="2148840" cy="233172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D7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39528" y="2459736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76060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9528" y="3017520"/>
            <a:ext cx="1828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CF0F5"/>
                </a:solidFill>
                <a:latin typeface="Calibri"/>
              </a:rPr>
              <a:t>Evening closure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892040"/>
            <a:ext cx="11018520" cy="1225296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18464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>
                <a:solidFill>
                  <a:srgbClr val="ECF0F5"/>
                </a:solidFill>
                <a:latin typeface="Calibri"/>
              </a:rPr>
              <a:t>Core rule: composure is trained as a daily system behavior, not a one-time app event.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6B0BF"/>
                </a:solidFill>
                <a:latin typeface="Consolas"/>
              </a:rPr>
              <a:t>Source: Internal product architecture (loop-based intervention system)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21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EBAB4A"/>
                </a:solidFill>
                <a:latin typeface="Consolas"/>
              </a:rPr>
              <a:t>STILLFORM · EXECUTIVE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109728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6B0BF"/>
                </a:solidFill>
                <a:latin typeface="Consolas"/>
              </a:rPr>
              <a:t>08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9728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ECF0F5"/>
                </a:solidFill>
                <a:latin typeface="Calibri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48132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6B0BF"/>
                </a:solidFill>
                <a:latin typeface="Calibri"/>
              </a:rPr>
              <a:t>What this deck proves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11680"/>
            <a:ext cx="10561320" cy="3840480"/>
          </a:xfrm>
          <a:prstGeom prst="roundRect">
            <a:avLst/>
          </a:prstGeom>
          <a:solidFill>
            <a:srgbClr val="121822"/>
          </a:solidFill>
          <a:ln w="15240">
            <a:solidFill>
              <a:srgbClr val="363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514600"/>
            <a:ext cx="978408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ECF0F5"/>
                </a:solidFill>
                <a:latin typeface="Calibri"/>
              </a:defRPr>
            </a:pPr>
            <a:r>
              <a:t>1) The need is real and global.</a:t>
            </a:r>
          </a:p>
          <a:p>
            <a:pPr>
              <a:spcAft>
                <a:spcPts val="1000"/>
              </a:spcAft>
              <a:defRPr sz="3000" b="1">
                <a:solidFill>
                  <a:srgbClr val="ECF0F5"/>
                </a:solidFill>
                <a:latin typeface="Calibri"/>
              </a:defRPr>
            </a:pPr>
            <a:r>
              <a:t>2) The care gap is structural.</a:t>
            </a:r>
          </a:p>
          <a:p>
            <a:pPr>
              <a:spcAft>
                <a:spcPts val="1000"/>
              </a:spcAft>
              <a:defRPr sz="3000" b="1">
                <a:solidFill>
                  <a:srgbClr val="ECF0F5"/>
                </a:solidFill>
                <a:latin typeface="Calibri"/>
              </a:defRPr>
            </a:pPr>
            <a:r>
              <a:t>3) The mechanism has measurable efficacy.</a:t>
            </a:r>
          </a:p>
          <a:p>
            <a:pPr>
              <a:spcAft>
                <a:spcPts val="1000"/>
              </a:spcAft>
              <a:defRPr sz="3000" b="1">
                <a:solidFill>
                  <a:srgbClr val="ECF0F5"/>
                </a:solidFill>
                <a:latin typeface="Calibri"/>
              </a:defRPr>
            </a:pPr>
            <a:r>
              <a:t>4) The product is built as a continuity loop for everyone.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64808"/>
            <a:ext cx="10972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A6B0BF"/>
                </a:solidFill>
                <a:latin typeface="Consolas"/>
              </a:rPr>
              <a:t>Source: Compiled from Gallup, WHO, OneSignal, Frontiers (full citations in slide footers)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