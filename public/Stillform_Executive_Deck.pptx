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Daily negative (%)</c:v>
                </c:pt>
              </c:strCache>
            </c:strRef>
          </c:tx>
          <c:dPt>
            <c:idx val="0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dPt>
            <c:idx val="1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dPt>
            <c:idx val="2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dPt>
            <c:idx val="3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dPt>
            <c:idx val="4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Worry</c:v>
                </c:pt>
                <c:pt idx="1">
                  <c:v>Stress</c:v>
                </c:pt>
                <c:pt idx="2">
                  <c:v>Pain</c:v>
                </c:pt>
                <c:pt idx="3">
                  <c:v>Sadness</c:v>
                </c:pt>
                <c:pt idx="4">
                  <c:v>Anger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</c:v>
                </c:pt>
                <c:pt idx="1">
                  <c:v>37</c:v>
                </c:pt>
                <c:pt idx="2">
                  <c:v>32</c:v>
                </c:pt>
                <c:pt idx="3">
                  <c:v>26</c:v>
                </c:pt>
                <c:pt idx="4">
                  <c:v>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496A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</c:scaling>
        <c:delete val="0"/>
        <c:axPos val="b"/>
        <c:majorGridlines>
          <c:spPr>
            <a:ln>
              <a:solidFill>
                <a:srgbClr val="3D3E4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496A1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Daily positive (%)</c:v>
                </c:pt>
              </c:strCache>
            </c:strRef>
          </c:tx>
          <c:dPt>
            <c:idx val="0"/>
            <c:spPr>
              <a:solidFill>
                <a:srgbClr val="777D8C"/>
              </a:solidFill>
              <a:ln>
                <a:solidFill>
                  <a:srgbClr val="777D8C"/>
                </a:solidFill>
              </a:ln>
            </c:spPr>
          </c:dPt>
          <c:dPt>
            <c:idx val="1"/>
            <c:spPr>
              <a:solidFill>
                <a:srgbClr val="777D8C"/>
              </a:solidFill>
              <a:ln>
                <a:solidFill>
                  <a:srgbClr val="777D8C"/>
                </a:solidFill>
              </a:ln>
            </c:spPr>
          </c:dPt>
          <c:dPt>
            <c:idx val="2"/>
            <c:spPr>
              <a:solidFill>
                <a:srgbClr val="777D8C"/>
              </a:solidFill>
              <a:ln>
                <a:solidFill>
                  <a:srgbClr val="777D8C"/>
                </a:solidFill>
              </a:ln>
            </c:spPr>
          </c:dPt>
          <c:dPt>
            <c:idx val="3"/>
            <c:spPr>
              <a:solidFill>
                <a:srgbClr val="777D8C"/>
              </a:solidFill>
              <a:ln>
                <a:solidFill>
                  <a:srgbClr val="777D8C"/>
                </a:solidFill>
              </a:ln>
            </c:spPr>
          </c:dPt>
          <c:dPt>
            <c:idx val="4"/>
            <c:spPr>
              <a:solidFill>
                <a:srgbClr val="777D8C"/>
              </a:solidFill>
              <a:ln>
                <a:solidFill>
                  <a:srgbClr val="777D8C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Respect</c:v>
                </c:pt>
                <c:pt idx="1">
                  <c:v>Enjoyment</c:v>
                </c:pt>
                <c:pt idx="2">
                  <c:v>Laughter</c:v>
                </c:pt>
                <c:pt idx="3">
                  <c:v>Rested</c:v>
                </c:pt>
                <c:pt idx="4">
                  <c:v>Learned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</c:v>
                </c:pt>
                <c:pt idx="1">
                  <c:v>73</c:v>
                </c:pt>
                <c:pt idx="2">
                  <c:v>73</c:v>
                </c:pt>
                <c:pt idx="3">
                  <c:v>72</c:v>
                </c:pt>
                <c:pt idx="4">
                  <c:v>52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496A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b"/>
        <c:majorGridlines>
          <c:spPr>
            <a:ln>
              <a:solidFill>
                <a:srgbClr val="3D3E4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496A1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dPt>
            <c:idx val="0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dPt>
            <c:idx val="1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dPt>
            <c:idx val="2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dPt>
            <c:idx val="3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Worry load</c:v>
                </c:pt>
                <c:pt idx="1">
                  <c:v>Stress load</c:v>
                </c:pt>
                <c:pt idx="2">
                  <c:v>Learning signal</c:v>
                </c:pt>
                <c:pt idx="3">
                  <c:v>Affect-label support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</c:v>
                </c:pt>
                <c:pt idx="1">
                  <c:v>37</c:v>
                </c:pt>
                <c:pt idx="2">
                  <c:v>52</c:v>
                </c:pt>
                <c:pt idx="3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496A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5.0"/>
        </c:scaling>
        <c:delete val="0"/>
        <c:axPos val="l"/>
        <c:majorGridlines>
          <c:spPr>
            <a:ln>
              <a:solidFill>
                <a:srgbClr val="3D3E4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496A1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Range / prevalence (%)</c:v>
                </c:pt>
              </c:strCache>
            </c:strRef>
          </c:tx>
          <c:dPt>
            <c:idx val="0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dPt>
            <c:idx val="1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dPt>
            <c:idx val="2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dPt>
            <c:idx val="3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Overread low</c:v>
                </c:pt>
                <c:pt idx="1">
                  <c:v>Overread high</c:v>
                </c:pt>
                <c:pt idx="2">
                  <c:v>Daily anger</c:v>
                </c:pt>
                <c:pt idx="3">
                  <c:v>Daily sadness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30</c:v>
                </c:pt>
                <c:pt idx="2">
                  <c:v>22</c:v>
                </c:pt>
                <c:pt idx="3">
                  <c:v>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496A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.0"/>
        </c:scaling>
        <c:delete val="0"/>
        <c:axPos val="l"/>
        <c:majorGridlines>
          <c:spPr>
            <a:ln>
              <a:solidFill>
                <a:srgbClr val="3D3E4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496A1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Unrest index</c:v>
                </c:pt>
              </c:strCache>
            </c:strRef>
          </c:tx>
          <c:dPt>
            <c:idx val="0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dPt>
            <c:idx val="1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2011</c:v>
                </c:pt>
                <c:pt idx="1">
                  <c:v>2019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344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496A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60.0"/>
        </c:scaling>
        <c:delete val="0"/>
        <c:axPos val="l"/>
        <c:majorGridlines>
          <c:spPr>
            <a:ln>
              <a:solidFill>
                <a:srgbClr val="3D3E4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496A1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Daily pressure (%)</c:v>
                </c:pt>
              </c:strCache>
            </c:strRef>
          </c:tx>
          <c:dPt>
            <c:idx val="0"/>
            <c:spPr>
              <a:solidFill>
                <a:srgbClr val="777D8C"/>
              </a:solidFill>
              <a:ln>
                <a:solidFill>
                  <a:srgbClr val="777D8C"/>
                </a:solidFill>
              </a:ln>
            </c:spPr>
          </c:dPt>
          <c:dPt>
            <c:idx val="1"/>
            <c:spPr>
              <a:solidFill>
                <a:srgbClr val="777D8C"/>
              </a:solidFill>
              <a:ln>
                <a:solidFill>
                  <a:srgbClr val="777D8C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Stress</c:v>
                </c:pt>
                <c:pt idx="1">
                  <c:v>Worry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39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496A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</c:scaling>
        <c:delete val="0"/>
        <c:axPos val="l"/>
        <c:majorGridlines>
          <c:spPr>
            <a:ln>
              <a:solidFill>
                <a:srgbClr val="3D3E4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496A1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Instrumentation coverage</c:v>
                </c:pt>
              </c:strCache>
            </c:strRef>
          </c:tx>
          <c:dPt>
            <c:idx val="0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dPt>
            <c:idx val="1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dPt>
            <c:idx val="2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dPt>
            <c:idx val="3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dPt>
            <c:idx val="4"/>
            <c:spPr>
              <a:solidFill>
                <a:srgbClr val="C8922A"/>
              </a:solidFill>
              <a:ln>
                <a:solidFill>
                  <a:srgbClr val="C8922A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Pre/post shift</c:v>
                </c:pt>
                <c:pt idx="1">
                  <c:v>Loop completion 14d</c:v>
                </c:pt>
                <c:pt idx="2">
                  <c:v>Nudge recovery 14d</c:v>
                </c:pt>
                <c:pt idx="3">
                  <c:v>Reliability score</c:v>
                </c:pt>
                <c:pt idx="4">
                  <c:v>Tool efficacy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496A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</c:scaling>
        <c:delete val="0"/>
        <c:axPos val="l"/>
        <c:majorGridlines>
          <c:spPr>
            <a:ln>
              <a:solidFill>
                <a:srgbClr val="3D3E4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496A1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C8922A"/>
                </a:solidFill>
                <a:latin typeface="Consolas"/>
              </a:rPr>
              <a:t>STILLFORM · APPLIED SCIENCE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00584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96A1"/>
                </a:solidFill>
                <a:latin typeface="Consolas"/>
              </a:rPr>
              <a:t>01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AF0"/>
                </a:solidFill>
                <a:latin typeface="Calibri"/>
              </a:rPr>
              <a:t>Stillform: Applied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96A1"/>
                </a:solidFill>
                <a:latin typeface="Calibri"/>
              </a:rPr>
              <a:t>Executive view — mechanism, not marketing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10881360" cy="3749039"/>
          </a:xfrm>
          <a:prstGeom prst="rect">
            <a:avLst/>
          </a:prstGeom>
          <a:solidFill>
            <a:srgbClr val="141418"/>
          </a:solidFill>
          <a:ln w="11430">
            <a:solidFill>
              <a:srgbClr val="3D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102412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8EAF0"/>
                </a:solidFill>
                <a:latin typeface="Calibri"/>
              </a:defRPr>
            </a:pPr>
            <a:r>
              <a:t>Composure is treated as a trainable operational skill.</a:t>
            </a:r>
          </a:p>
          <a:p>
            <a:pPr>
              <a:spcAft>
                <a:spcPts val="800"/>
              </a:spcAft>
              <a:defRPr sz="2000">
                <a:solidFill>
                  <a:srgbClr val="E8EAF0"/>
                </a:solidFill>
                <a:latin typeface="Calibri"/>
              </a:defRPr>
            </a:pPr>
            <a:r>
              <a:t>Science domains: metacognition, EQ, impulsivity interruption, microbias conflict correction.</a:t>
            </a:r>
          </a:p>
          <a:p>
            <a:pPr>
              <a:spcAft>
                <a:spcPts val="800"/>
              </a:spcAft>
              <a:defRPr sz="2000">
                <a:solidFill>
                  <a:srgbClr val="E8EAF0"/>
                </a:solidFill>
                <a:latin typeface="Calibri"/>
              </a:defRPr>
            </a:pPr>
            <a:r>
              <a:t>Every chart maps to a Stillform mechanism and a measurable telemetry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96A1"/>
                </a:solidFill>
                <a:latin typeface="Consolas"/>
              </a:rPr>
              <a:t>Source: Stillform science sheet + App.jsx telemetry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C8922A"/>
                </a:solidFill>
                <a:latin typeface="Consolas"/>
              </a:rPr>
              <a:t>STILLFORM · APPLIED SCIENCE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00584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96A1"/>
                </a:solidFill>
                <a:latin typeface="Consolas"/>
              </a:rPr>
              <a:t>02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AF0"/>
                </a:solidFill>
                <a:latin typeface="Calibri"/>
              </a:rPr>
              <a:t>Global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96A1"/>
                </a:solidFill>
                <a:latin typeface="Calibri"/>
              </a:rPr>
              <a:t>Pressure remains high; composure capacity is uneven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5440680" cy="4297680"/>
          </a:xfrm>
          <a:prstGeom prst="rect">
            <a:avLst/>
          </a:prstGeom>
          <a:solidFill>
            <a:srgbClr val="141418"/>
          </a:solidFill>
          <a:ln w="11430">
            <a:solidFill>
              <a:srgbClr val="3D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14400" y="2240280"/>
          <a:ext cx="498348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355080" y="1874519"/>
            <a:ext cx="5349240" cy="4297680"/>
          </a:xfrm>
          <a:prstGeom prst="rect">
            <a:avLst/>
          </a:prstGeom>
          <a:solidFill>
            <a:srgbClr val="141418"/>
          </a:solidFill>
          <a:ln w="11430">
            <a:solidFill>
              <a:srgbClr val="3D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0" y="2240280"/>
          <a:ext cx="489204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96A1"/>
                </a:solidFill>
                <a:latin typeface="Consolas"/>
              </a:rPr>
              <a:t>Source: Gallup State of the World's Emotional Health (2024)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C8922A"/>
                </a:solidFill>
                <a:latin typeface="Consolas"/>
              </a:rPr>
              <a:t>STILLFORM · APPLIED SCIENCE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00584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96A1"/>
                </a:solidFill>
                <a:latin typeface="Consolas"/>
              </a:rPr>
              <a:t>03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AF0"/>
                </a:solidFill>
                <a:latin typeface="Calibri"/>
              </a:rPr>
              <a:t>How Stillform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96A1"/>
                </a:solidFill>
                <a:latin typeface="Calibri"/>
              </a:rPr>
              <a:t>Applied science -&gt; mechanism -&gt; signal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828800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926080"/>
                <a:gridCol w="3291840"/>
                <a:gridCol w="2926080"/>
              </a:tblGrid>
              <a:tr h="7543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8922A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8922A"/>
                          </a:solidFill>
                          <a:latin typeface="Calibri"/>
                        </a:rPr>
                        <a:t>Issue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8922A"/>
                          </a:solidFill>
                          <a:latin typeface="Calibri"/>
                        </a:rPr>
                        <a:t>Stillform mechanism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8922A"/>
                          </a:solidFill>
                          <a:latin typeface="Calibri"/>
                        </a:rPr>
                        <a:t>Measured signal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Metacognition</a:t>
                      </a:r>
                    </a:p>
                  </a:txBody>
                  <a:tcPr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High stress narrows self-monitoring</a:t>
                      </a:r>
                    </a:p>
                  </a:txBody>
                  <a:tcPr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Affect labeling + pattern reflection</a:t>
                      </a:r>
                    </a:p>
                  </a:txBody>
                  <a:tcPr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Pre/post composure shift</a:t>
                      </a:r>
                    </a:p>
                  </a:txBody>
                  <a:tcPr>
                    <a:solidFill>
                      <a:srgbClr val="0A0A0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EQ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State noise distorts social reads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Bio-filter + microbias prompting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Conflict-loop reduction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Composure</a:t>
                      </a:r>
                    </a:p>
                  </a:txBody>
                  <a:tcPr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Inconsistent daily regulation</a:t>
                      </a:r>
                    </a:p>
                  </a:txBody>
                  <a:tcPr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Morning baseline + EOD close</a:t>
                      </a:r>
                    </a:p>
                  </a:txBody>
                  <a:tcPr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14d loop completion</a:t>
                      </a:r>
                    </a:p>
                  </a:txBody>
                  <a:tcPr>
                    <a:solidFill>
                      <a:srgbClr val="0A0A0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Impulsivity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Fast state -&gt; fast reactions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Somatic interrupt + default pathway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Time-to-stabilization</a:t>
                      </a:r>
                    </a:p>
                  </a:txBody>
                  <a:tcPr>
                    <a:solidFill>
                      <a:srgbClr val="1A1A1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Microbias</a:t>
                      </a:r>
                    </a:p>
                  </a:txBody>
                  <a:tcPr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20-30% overread of negative intensity</a:t>
                      </a:r>
                    </a:p>
                  </a:txBody>
                  <a:tcPr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Projection/attribution checks</a:t>
                      </a:r>
                    </a:p>
                  </a:txBody>
                  <a:tcPr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8EAF0"/>
                          </a:solidFill>
                          <a:latin typeface="Calibri"/>
                        </a:rPr>
                        <a:t>Bias-tag recurrence trend</a:t>
                      </a:r>
                    </a:p>
                  </a:txBody>
                  <a:tcPr>
                    <a:solidFill>
                      <a:srgbClr val="0A0A0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96A1"/>
                </a:solidFill>
                <a:latin typeface="Consolas"/>
              </a:rPr>
              <a:t>Source: Stillform science sheet + App.jsx loop/nudge/rating instrumentation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C8922A"/>
                </a:solidFill>
                <a:latin typeface="Consolas"/>
              </a:rPr>
              <a:t>STILLFORM · APPLIED SCIENCE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00584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96A1"/>
                </a:solidFill>
                <a:latin typeface="Consolas"/>
              </a:rPr>
              <a:t>04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AF0"/>
                </a:solidFill>
                <a:latin typeface="Calibri"/>
              </a:rPr>
              <a:t>Metacognition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96A1"/>
                </a:solidFill>
                <a:latin typeface="Calibri"/>
              </a:rPr>
              <a:t>Converting unobserved emotion loops into monitored choices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7223760" cy="4297680"/>
          </a:xfrm>
          <a:prstGeom prst="rect">
            <a:avLst/>
          </a:prstGeom>
          <a:solidFill>
            <a:srgbClr val="141418"/>
          </a:solidFill>
          <a:ln w="11430">
            <a:solidFill>
              <a:srgbClr val="3D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60120" y="2240280"/>
          <a:ext cx="672084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183879" y="1874519"/>
            <a:ext cx="3520440" cy="4297680"/>
          </a:xfrm>
          <a:prstGeom prst="rect">
            <a:avLst/>
          </a:prstGeom>
          <a:solidFill>
            <a:srgbClr val="1A1A1F"/>
          </a:solidFill>
          <a:ln w="11430">
            <a:solidFill>
              <a:srgbClr val="3D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1" y="2039111"/>
            <a:ext cx="3200400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8922A"/>
                </a:solidFill>
                <a:latin typeface="Calibri"/>
              </a:rPr>
              <a:t>How this works in-app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  <a:latin typeface="Calibri"/>
              </a:defRPr>
            </a:pPr>
            <a:r>
              <a:t>Pulse emotion chips perform affect labeling.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  <a:latin typeface="Calibri"/>
              </a:defRPr>
            </a:pPr>
            <a:r>
              <a:t>Reframe reflects patterns back as operational language.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  <a:latin typeface="Calibri"/>
              </a:defRPr>
            </a:pPr>
            <a:r>
              <a:t>Output target: clearer next-action selection under load.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96A1"/>
                </a:solidFill>
                <a:latin typeface="Consolas"/>
              </a:rPr>
              <a:t>Source: Flavell 1979; Lieberman 2007; Torre &amp; Lieberman 2018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C8922A"/>
                </a:solidFill>
                <a:latin typeface="Consolas"/>
              </a:rPr>
              <a:t>STILLFORM · APPLIED SCIENCE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00584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96A1"/>
                </a:solidFill>
                <a:latin typeface="Consolas"/>
              </a:rPr>
              <a:t>05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AF0"/>
                </a:solidFill>
                <a:latin typeface="Calibri"/>
              </a:rPr>
              <a:t>EQ + Microbias Conflict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96A1"/>
                </a:solidFill>
                <a:latin typeface="Calibri"/>
              </a:rPr>
              <a:t>Reducing projection and attribution errors before they escalate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7223760" cy="4297680"/>
          </a:xfrm>
          <a:prstGeom prst="rect">
            <a:avLst/>
          </a:prstGeom>
          <a:solidFill>
            <a:srgbClr val="141418"/>
          </a:solidFill>
          <a:ln w="11430">
            <a:solidFill>
              <a:srgbClr val="3D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60120" y="2240280"/>
          <a:ext cx="672084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183879" y="1874519"/>
            <a:ext cx="3520440" cy="4297680"/>
          </a:xfrm>
          <a:prstGeom prst="rect">
            <a:avLst/>
          </a:prstGeom>
          <a:solidFill>
            <a:srgbClr val="1A1A1F"/>
          </a:solidFill>
          <a:ln w="11430">
            <a:solidFill>
              <a:srgbClr val="3D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1" y="2039111"/>
            <a:ext cx="3200400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8922A"/>
                </a:solidFill>
                <a:latin typeface="Calibri"/>
              </a:rPr>
              <a:t>How this works in-app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  <a:latin typeface="Calibri"/>
              </a:defRPr>
            </a:pPr>
            <a:r>
              <a:t>Bio-filter tags depleted hardware states first.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  <a:latin typeface="Calibri"/>
              </a:defRPr>
            </a:pPr>
            <a:r>
              <a:t>Reframe applies one microbias correction at a time.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  <a:latin typeface="Calibri"/>
              </a:defRPr>
            </a:pPr>
            <a:r>
              <a:t>Goal: lower reactive conflict interpretation errors.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96A1"/>
                </a:solidFill>
                <a:latin typeface="Consolas"/>
              </a:rPr>
              <a:t>Source: Stillform science sheet microbias section; Nature Communications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C8922A"/>
                </a:solidFill>
                <a:latin typeface="Consolas"/>
              </a:rPr>
              <a:t>STILLFORM · APPLIED SCIENCE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00584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96A1"/>
                </a:solidFill>
                <a:latin typeface="Consolas"/>
              </a:rPr>
              <a:t>06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AF0"/>
                </a:solidFill>
                <a:latin typeface="Calibri"/>
              </a:rPr>
              <a:t>Impulsivity Under 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96A1"/>
                </a:solidFill>
                <a:latin typeface="Calibri"/>
              </a:rPr>
              <a:t>Interrupting fast-state reaction chains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5440680" cy="4297680"/>
          </a:xfrm>
          <a:prstGeom prst="rect">
            <a:avLst/>
          </a:prstGeom>
          <a:solidFill>
            <a:srgbClr val="141418"/>
          </a:solidFill>
          <a:ln w="11430">
            <a:solidFill>
              <a:srgbClr val="3D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14400" y="2240280"/>
          <a:ext cx="498348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355080" y="1874519"/>
            <a:ext cx="5349240" cy="2057400"/>
          </a:xfrm>
          <a:prstGeom prst="rect">
            <a:avLst/>
          </a:prstGeom>
          <a:solidFill>
            <a:srgbClr val="141418"/>
          </a:solidFill>
          <a:ln w="11430">
            <a:solidFill>
              <a:srgbClr val="3D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0" y="2103120"/>
          <a:ext cx="4892040" cy="1600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6355080" y="4114800"/>
            <a:ext cx="5349240" cy="2057400"/>
          </a:xfrm>
          <a:prstGeom prst="rect">
            <a:avLst/>
          </a:prstGeom>
          <a:solidFill>
            <a:srgbClr val="1A1A1F"/>
          </a:solidFill>
          <a:ln w="11430">
            <a:solidFill>
              <a:srgbClr val="3D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4279392"/>
            <a:ext cx="5029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8922A"/>
                </a:solidFill>
                <a:latin typeface="Calibri"/>
              </a:rPr>
              <a:t>How this works in-app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  <a:latin typeface="Calibri"/>
              </a:defRPr>
            </a:pPr>
            <a:r>
              <a:t>Somatic interrupt catches rapid escalation in-session.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  <a:latin typeface="Calibri"/>
              </a:defRPr>
            </a:pPr>
            <a:r>
              <a:t>Default pathway routing reduces decision lag under load.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  <a:latin typeface="Calibri"/>
              </a:defRPr>
            </a:pPr>
            <a:r>
              <a:t>Target: reduce reactive action in high-pressure windows.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96A1"/>
                </a:solidFill>
                <a:latin typeface="Consolas"/>
              </a:rPr>
              <a:t>Source: Gallup 2024/2025 context; Stillform somatic interrupt + routing logic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C8922A"/>
                </a:solidFill>
                <a:latin typeface="Consolas"/>
              </a:rPr>
              <a:t>STILLFORM · APPLIED SCIENCE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00584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96A1"/>
                </a:solidFill>
                <a:latin typeface="Consolas"/>
              </a:rPr>
              <a:t>07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AF0"/>
                </a:solidFill>
                <a:latin typeface="Calibri"/>
              </a:rPr>
              <a:t>Stillform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96A1"/>
                </a:solidFill>
                <a:latin typeface="Calibri"/>
              </a:rPr>
              <a:t>Daily operating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40280"/>
            <a:ext cx="2176272" cy="2560320"/>
          </a:xfrm>
          <a:prstGeom prst="rect">
            <a:avLst/>
          </a:prstGeom>
          <a:solidFill>
            <a:srgbClr val="141418"/>
          </a:solidFill>
          <a:ln w="11430">
            <a:solidFill>
              <a:srgbClr val="3D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23160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8922A"/>
                </a:solidFill>
                <a:latin typeface="Calibri"/>
              </a:rPr>
              <a:t>State capture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16352" y="3246120"/>
            <a:ext cx="128016" cy="457200"/>
          </a:xfrm>
          <a:prstGeom prst="rightArrow">
            <a:avLst/>
          </a:prstGeom>
          <a:solidFill>
            <a:srgbClr val="949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2240280"/>
            <a:ext cx="2176272" cy="2560320"/>
          </a:xfrm>
          <a:prstGeom prst="rect">
            <a:avLst/>
          </a:prstGeom>
          <a:solidFill>
            <a:srgbClr val="1A1A1F"/>
          </a:solidFill>
          <a:ln w="11430">
            <a:solidFill>
              <a:srgbClr val="3D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2423160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8922A"/>
                </a:solidFill>
                <a:latin typeface="Calibri"/>
              </a:rPr>
              <a:t>Intervention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02352" y="3246120"/>
            <a:ext cx="128016" cy="457200"/>
          </a:xfrm>
          <a:prstGeom prst="rightArrow">
            <a:avLst/>
          </a:prstGeom>
          <a:solidFill>
            <a:srgbClr val="949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0368" y="2240280"/>
            <a:ext cx="2176272" cy="2560320"/>
          </a:xfrm>
          <a:prstGeom prst="rect">
            <a:avLst/>
          </a:prstGeom>
          <a:solidFill>
            <a:srgbClr val="141418"/>
          </a:solidFill>
          <a:ln w="11430">
            <a:solidFill>
              <a:srgbClr val="3D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6672" y="2423160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8922A"/>
                </a:solidFill>
                <a:latin typeface="Calibri"/>
              </a:rPr>
              <a:t>Reappraisal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88352" y="3246120"/>
            <a:ext cx="128016" cy="457200"/>
          </a:xfrm>
          <a:prstGeom prst="rightArrow">
            <a:avLst/>
          </a:prstGeom>
          <a:solidFill>
            <a:srgbClr val="949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16368" y="2240280"/>
            <a:ext cx="2176272" cy="2560320"/>
          </a:xfrm>
          <a:prstGeom prst="rect">
            <a:avLst/>
          </a:prstGeom>
          <a:solidFill>
            <a:srgbClr val="1A1A1F"/>
          </a:solidFill>
          <a:ln w="11430">
            <a:solidFill>
              <a:srgbClr val="3D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2" y="2423160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8922A"/>
                </a:solidFill>
                <a:latin typeface="Calibri"/>
              </a:rPr>
              <a:t>Transfer action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74352" y="3246120"/>
            <a:ext cx="128016" cy="457200"/>
          </a:xfrm>
          <a:prstGeom prst="rightArrow">
            <a:avLst/>
          </a:prstGeom>
          <a:solidFill>
            <a:srgbClr val="949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02368" y="2240280"/>
            <a:ext cx="2176272" cy="2560320"/>
          </a:xfrm>
          <a:prstGeom prst="rect">
            <a:avLst/>
          </a:prstGeom>
          <a:solidFill>
            <a:srgbClr val="141418"/>
          </a:solidFill>
          <a:ln w="11430">
            <a:solidFill>
              <a:srgbClr val="3D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48672" y="2423160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8922A"/>
                </a:solidFill>
                <a:latin typeface="Calibri"/>
              </a:rPr>
              <a:t>EOD consolidation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983480"/>
            <a:ext cx="11027664" cy="1188720"/>
          </a:xfrm>
          <a:prstGeom prst="rect">
            <a:avLst/>
          </a:prstGeom>
          <a:solidFill>
            <a:srgbClr val="1A1A1F"/>
          </a:solidFill>
          <a:ln w="11430">
            <a:solidFill>
              <a:srgbClr val="3D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48072"/>
            <a:ext cx="1070762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8922A"/>
                </a:solidFill>
                <a:latin typeface="Calibri"/>
              </a:rPr>
              <a:t>Execution intent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  <a:latin typeface="Calibri"/>
              </a:defRPr>
            </a:pPr>
            <a:r>
              <a:t>Composure is trained as repeatable daily behavior, not occasional mood relief.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96A1"/>
                </a:solidFill>
                <a:latin typeface="Consolas"/>
              </a:rPr>
              <a:t>Source: Stillform morning -&gt; intervention -&gt; post-rating -&gt; EOD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C8922A"/>
                </a:solidFill>
                <a:latin typeface="Consolas"/>
              </a:rPr>
              <a:t>STILLFORM · APPLIED SCIENCE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00584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96A1"/>
                </a:solidFill>
                <a:latin typeface="Consolas"/>
              </a:rPr>
              <a:t>08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AF0"/>
                </a:solidFill>
                <a:latin typeface="Calibri"/>
              </a:rPr>
              <a:t>Telemetry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96A1"/>
                </a:solidFill>
                <a:latin typeface="Calibri"/>
              </a:rPr>
              <a:t>If applied science is real, it must show up in measured signals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7223760" cy="4297680"/>
          </a:xfrm>
          <a:prstGeom prst="rect">
            <a:avLst/>
          </a:prstGeom>
          <a:solidFill>
            <a:srgbClr val="141418"/>
          </a:solidFill>
          <a:ln w="11430">
            <a:solidFill>
              <a:srgbClr val="3D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60120" y="2240280"/>
          <a:ext cx="672084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183879" y="1874519"/>
            <a:ext cx="3520440" cy="4297680"/>
          </a:xfrm>
          <a:prstGeom prst="rect">
            <a:avLst/>
          </a:prstGeom>
          <a:solidFill>
            <a:srgbClr val="1A1A1F"/>
          </a:solidFill>
          <a:ln w="11430">
            <a:solidFill>
              <a:srgbClr val="3D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1" y="2039111"/>
            <a:ext cx="3200400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8922A"/>
                </a:solidFill>
                <a:latin typeface="Calibri"/>
              </a:rPr>
              <a:t>How this works in-app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  <a:latin typeface="Calibri"/>
              </a:defRPr>
            </a:pPr>
            <a:r>
              <a:t>Reliability score = (Loop x 0.65) + (Recovery x 0.35).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  <a:latin typeface="Calibri"/>
              </a:defRPr>
            </a:pPr>
            <a:r>
              <a:t>14-day window for active operating signal.</a:t>
            </a:r>
          </a:p>
          <a:p>
            <a:pPr>
              <a:spcAft>
                <a:spcPts val="600"/>
              </a:spcAft>
              <a:defRPr sz="1200">
                <a:solidFill>
                  <a:srgbClr val="E8EAF0"/>
                </a:solidFill>
                <a:latin typeface="Calibri"/>
              </a:defRPr>
            </a:pPr>
            <a:r>
              <a:t>12-week horizon for composure telemetry.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96A1"/>
                </a:solidFill>
                <a:latin typeface="Consolas"/>
              </a:rPr>
              <a:t>Source: Stillform App.jsx reliabilityScore + loop/nudge telemetry implementation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058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C8922A"/>
                </a:solidFill>
                <a:latin typeface="Consolas"/>
              </a:rPr>
              <a:t>STILLFORM · APPLIED SCIENCE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00584"/>
            <a:ext cx="1554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96A1"/>
                </a:solidFill>
                <a:latin typeface="Consolas"/>
              </a:rPr>
              <a:t>09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AF0"/>
                </a:solidFill>
                <a:latin typeface="Calibri"/>
              </a:rPr>
              <a:t>Executive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96A1"/>
                </a:solidFill>
                <a:latin typeface="Calibri"/>
              </a:rPr>
              <a:t>Applied science mapped to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2011680"/>
            <a:ext cx="10607040" cy="3794760"/>
          </a:xfrm>
          <a:prstGeom prst="rect">
            <a:avLst/>
          </a:prstGeom>
          <a:solidFill>
            <a:srgbClr val="141418"/>
          </a:solidFill>
          <a:ln w="11430">
            <a:solidFill>
              <a:srgbClr val="3D3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0058400" cy="3063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E8EAF0"/>
                </a:solidFill>
                <a:latin typeface="Calibri"/>
              </a:defRPr>
            </a:pPr>
            <a:r>
              <a:t>Stillform is not psychiatric treatment software.</a:t>
            </a:r>
          </a:p>
          <a:p>
            <a:pPr>
              <a:spcAft>
                <a:spcPts val="800"/>
              </a:spcAft>
              <a:defRPr sz="2000" b="1">
                <a:solidFill>
                  <a:srgbClr val="E8EAF0"/>
                </a:solidFill>
                <a:latin typeface="Calibri"/>
              </a:defRPr>
            </a:pPr>
            <a:r>
              <a:t>It is a composure and self-awareness operating system.</a:t>
            </a:r>
          </a:p>
          <a:p>
            <a:pPr>
              <a:spcAft>
                <a:spcPts val="800"/>
              </a:spcAft>
              <a:defRPr sz="2000" b="1">
                <a:solidFill>
                  <a:srgbClr val="E8EAF0"/>
                </a:solidFill>
                <a:latin typeface="Calibri"/>
              </a:defRPr>
            </a:pPr>
            <a:r>
              <a:t>Mechanism quality is judged by behavior shift, reliability, and transfer under pressure.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28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96A1"/>
                </a:solidFill>
                <a:latin typeface="Consolas"/>
              </a:rPr>
              <a:t>Source: Stillform applied science model: metacognition, EQ, composure, impulsivity, microbias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