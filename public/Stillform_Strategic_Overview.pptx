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negative experiences (%)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2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3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4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Worry</c:v>
                </c:pt>
                <c:pt idx="1">
                  <c:v>Stress</c:v>
                </c:pt>
                <c:pt idx="2">
                  <c:v>Pain</c:v>
                </c:pt>
                <c:pt idx="3">
                  <c:v>Sadness</c:v>
                </c:pt>
                <c:pt idx="4">
                  <c:v>Anger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37</c:v>
                </c:pt>
                <c:pt idx="2">
                  <c:v>32</c:v>
                </c:pt>
                <c:pt idx="3">
                  <c:v>26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b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positive experiences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2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3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4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Respect</c:v>
                </c:pt>
                <c:pt idx="1">
                  <c:v>Laughter</c:v>
                </c:pt>
                <c:pt idx="2">
                  <c:v>Enjoyment</c:v>
                </c:pt>
                <c:pt idx="3">
                  <c:v>Rested</c:v>
                </c:pt>
                <c:pt idx="4">
                  <c:v>Learned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73</c:v>
                </c:pt>
                <c:pt idx="2">
                  <c:v>73</c:v>
                </c:pt>
                <c:pt idx="3">
                  <c:v>72</c:v>
                </c:pt>
                <c:pt idx="4">
                  <c:v>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Issue/lever index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2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3"/>
            <c:spPr>
              <a:solidFill>
                <a:srgbClr val="7EA27E"/>
              </a:solidFill>
              <a:ln>
                <a:solidFill>
                  <a:srgbClr val="7EA27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Worry load</c:v>
                </c:pt>
                <c:pt idx="1">
                  <c:v>Stress load</c:v>
                </c:pt>
                <c:pt idx="2">
                  <c:v>Learning signal</c:v>
                </c:pt>
                <c:pt idx="3">
                  <c:v>Affect-label lever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37</c:v>
                </c:pt>
                <c:pt idx="2">
                  <c:v>52</c:v>
                </c:pt>
                <c:pt idx="3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Range / prevalence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2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3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Overread low</c:v>
                </c:pt>
                <c:pt idx="1">
                  <c:v>Overread high</c:v>
                </c:pt>
                <c:pt idx="2">
                  <c:v>Daily anger</c:v>
                </c:pt>
                <c:pt idx="3">
                  <c:v>Daily sadness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30</c:v>
                </c:pt>
                <c:pt idx="2">
                  <c:v>22</c:v>
                </c:pt>
                <c:pt idx="3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Riots/strikes/anti-gov demos index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2011 baseline</c:v>
                </c:pt>
                <c:pt idx="1">
                  <c:v>2019 level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pressure prevalence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Stress</c:v>
                </c:pt>
                <c:pt idx="1">
                  <c:v>Worry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Signal coverage index</c:v>
                </c:pt>
              </c:strCache>
            </c:strRef>
          </c:tx>
          <c:dPt>
            <c:idx val="0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1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2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3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4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Pre/post delta</c:v>
                </c:pt>
                <c:pt idx="1">
                  <c:v>Loop completion 14d</c:v>
                </c:pt>
                <c:pt idx="2">
                  <c:v>Nudge recovery 14d</c:v>
                </c:pt>
                <c:pt idx="3">
                  <c:v>Reliability score</c:v>
                </c:pt>
                <c:pt idx="4">
                  <c:v>Tool efficacy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01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What Stillform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The story anchor before any charts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881360" cy="434340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E8EAF0"/>
                </a:solidFill>
                <a:latin typeface="Calibri"/>
              </a:defRPr>
            </a:pPr>
            <a:r>
              <a:t>Stillform is a composure and self-awareness system.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 is not a psychiatry app and not therapy replacement software.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 trains people to read state accurately, interrupt impulsive reactions, and choose better actions under load.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Its core mechanism is daily loop execution: morning baseline -&gt; state-aware intervention -&gt; post-shift rating -&gt; evening closure.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product architecture and privacy/disclaimer 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Why These Visuals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Each chart answers an executive decision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110642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148840"/>
          <a:ext cx="106070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749039"/>
                <a:gridCol w="429768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Visual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Global context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Is composure demand real?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Shows pressure environment users live in.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Metacognition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users monitor state better?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Validates awareness training mechanics.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EQ/microbias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Are social reads cleaner?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Reduces conflict misreads and relational cost.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Impulsivity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reactions be interrupted?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Protects decisions in high-arousal windows.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Telemetry layer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we prove improvement?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Moves from claims to measurable evidence.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Deck framing logic tied to Stillform mechanism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03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Global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Pressure remains high; composure capacity is uneven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48640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24028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355080" y="1874519"/>
            <a:ext cx="534924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240280"/>
          <a:ext cx="49377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Gallup State of the World's Emotional Health (2024)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04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Metacognition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Converting unobserved emotion loops into monitored choices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Pulse emotion labeling trains state naming (affect labeling).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Reframe then converts state awareness into action selection.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Measured by pre/post composure delta trends over sessions.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Flavell 1979; Lieberman 2007; Torre &amp; Lieberman 2018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05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EQ + Microbias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Reducing projection and attribution errors before they escalate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Bio-filter marks depleted state before interpretation.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Reframe checks one microbias at a time (projection, attribution, contagion, impact gap, intensity).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Target outcome: fewer avoidable social conflicts.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science sheet (microbias section); Nature Communications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06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Impulsivity Under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Interrupting fast-state reaction chains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48640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24028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355080" y="1874519"/>
            <a:ext cx="534924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240280"/>
          <a:ext cx="246888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26880" y="224028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Somatic interrupt catches body escalation during Reframe.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Default pathway routing removes decision delay in high arousal.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Measured by faster stabilization and stronger post-shift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Gallup 2025 contextual trend references; Stillform intervention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07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How Stillform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Applied science translated into one daily operating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State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Morning check-in + bio-filter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088" y="2148840"/>
            <a:ext cx="2240280" cy="269748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Interrupt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Breathe / Body Scan / somatic cue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896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Reframe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Structured cognitive shift + microbias check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3528" y="2148840"/>
            <a:ext cx="2240280" cy="269748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Rate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Non-skippable post-session state rating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8524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Close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2240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EOD check-in feeds next-day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App.jsx: morning/EOD loops, post-rating, and mode routing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08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Telemetry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If applied science is real, it must show up in measured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E8EAF0"/>
                </a:solidFill>
                <a:latin typeface="Calibri"/>
              </a:defRPr>
            </a:pPr>
            <a:r>
              <a:t>How Stillform proves effect: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Reliability score = (loop completion x 0.65) + (nudge recovery x 0.35).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Decision window: rolling 14 days.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Telemetry horizon: 12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App.jsx reliabilityScore and telemetry blocks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09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Executive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Applied science mapped to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10561320" cy="388620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E8EAF0"/>
                </a:solidFill>
                <a:latin typeface="Calibri"/>
              </a:defRPr>
            </a:pPr>
            <a:r>
              <a:t>Stillform is a composure system for everyone.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Its value is not inspirational content; it is measurable state-to-action transfer under pressure.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The deck's visuals matter only because each one ties directly to a mechanism and a telemetry proof signal.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The release standard is simple: if the mechanism is not measurable, it is not ready to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applied science model and release integrity principles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