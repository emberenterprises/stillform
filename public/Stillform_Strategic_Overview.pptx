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Stillform Strategic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Preventive risk management for human behavior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>
                <a:solidFill>
                  <a:srgbClr val="E9E9EA"/>
                </a:solidFill>
                <a:latin typeface="DM Sans"/>
              </a:defRPr>
            </a:pPr>
            <a:r>
              <a:t>Mission: make composure trainable, measurable, and transferable for everyone.</a:t>
            </a:r>
          </a:p>
          <a:p>
            <a:pPr>
              <a:spcAft>
                <a:spcPts val="1000"/>
              </a:spcAft>
              <a:defRPr sz="1900">
                <a:solidFill>
                  <a:srgbClr val="E9E9EA"/>
                </a:solidFill>
                <a:latin typeface="DM Sans"/>
              </a:defRPr>
            </a:pPr>
            <a:r>
              <a:t>Category: neuroscience-guided preventive risk management for emotional maturity and decision quality.</a:t>
            </a:r>
          </a:p>
          <a:p>
            <a:pPr>
              <a:spcAft>
                <a:spcPts val="1000"/>
              </a:spcAft>
              <a:defRPr sz="1900">
                <a:solidFill>
                  <a:srgbClr val="E9E9EA"/>
                </a:solidFill>
                <a:latin typeface="DM Sans"/>
              </a:defRPr>
            </a:pPr>
            <a:r>
              <a:t>Standard: every claim maps to mechanism, evidence, and measurable product signal.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Operating Thesis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SECTION 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0378440" cy="3154680"/>
          </a:xfrm>
          <a:prstGeom prst="roundRect">
            <a:avLst/>
          </a:prstGeom>
          <a:solidFill>
            <a:srgbClr val="17191D"/>
          </a:solidFill>
          <a:ln w="1524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146304" cy="3154680"/>
          </a:xfrm>
          <a:prstGeom prst="rect">
            <a:avLst/>
          </a:prstGeom>
          <a:solidFill>
            <a:srgbClr val="C9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>
                <a:solidFill>
                  <a:srgbClr val="E9E9EA"/>
                </a:solidFill>
                <a:latin typeface="DM Sans"/>
              </a:rPr>
              <a:t>Clear category definition and operating thesis.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Operating definition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Category, mechanism, and strategic position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7280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4709160"/>
                <a:gridCol w="4846320"/>
              </a:tblGrid>
              <a:tr h="905256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Dimension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Definition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Why it matters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Who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Everyone building composure as a trainable daily capability.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Universal requirement, not niche positioning.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What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A neuroscience-guided preventive risk management system for behavior.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Reduces avoidable damage before it compounds.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How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Detect state -&gt; route intervention -&gt; transfer action -&gt; close daily loop -&gt; learn patterns.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Mechanism-driven architecture, not inspiration content.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Why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Unregulated state degrades judgment, communication, and relationships.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Cleaner decisions and lower downstream relational/operational cost.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Mechanics + Science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SECTION 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0378440" cy="3154680"/>
          </a:xfrm>
          <a:prstGeom prst="roundRect">
            <a:avLst/>
          </a:prstGeom>
          <a:solidFill>
            <a:srgbClr val="17191D"/>
          </a:solidFill>
          <a:ln w="1524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146304" cy="3154680"/>
          </a:xfrm>
          <a:prstGeom prst="rect">
            <a:avLst/>
          </a:prstGeom>
          <a:solidFill>
            <a:srgbClr val="C9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>
                <a:solidFill>
                  <a:srgbClr val="E9E9EA"/>
                </a:solidFill>
                <a:latin typeface="DM Sans"/>
              </a:rPr>
              <a:t>Science is operationalized as product behavior, not decoration.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Mechanics map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Science -&gt; product implementation -&gt; measured signal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83080"/>
          <a:ext cx="112014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880360"/>
                <a:gridCol w="3154680"/>
                <a:gridCol w="3383280"/>
              </a:tblGrid>
              <a:tr h="9326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Mechanic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Scientific basis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Product implementation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Measured signal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Affect labeling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Lieberman et al. (2007); Torre &amp; Lieberman (2018)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Pulse chips + post-session labeling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State precision and composure-shift trend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Cognitive reappraisal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Ochsner &amp; Gross (2005); Buhle et al. (2014)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Reframe structured perspective sequence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Pre/post composure delta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Interoceptive regulation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Mehling et al. (2012); Critchley &amp; Garfinkel (2017)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Bio-filter + body scan + somatic prompts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Recovery latency reduction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Implementation intentions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Gollwitzer (1999); Gollwitzer &amp; Sheeran (2006)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Calibration -&gt; default tool routing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Action latency reduction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06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Mechanics map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Longitudinal conditioning and risk reduction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783080"/>
          <a:ext cx="112014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2880360"/>
                <a:gridCol w="3154680"/>
                <a:gridCol w="3383280"/>
              </a:tblGrid>
              <a:tr h="932688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Mechanic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Scientific basis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Product implementation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Measured signal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Stress inoculation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Meichenbaum (1985)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Morning baseline + EOD closure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Loop adherence and relapse protection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Autonomic flexibility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Thayer &amp; Lane (2000); Appelhans &amp; Luecken (2006)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Repeated regulation reps over sessions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Faster baseline return over time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Emotional granularity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Barrett et al. (2001); Kashdan et al. (2015)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Expanded emotion taxonomy in Pulse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Higher-quality self-report and intervention fit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932688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Misattribution correction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Schachter &amp; Singer (1962); Goldstein et al. (2007)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Bio-filter modifies interpretation before response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C4C6CC"/>
                          </a:solidFill>
                          <a:latin typeface="DM Sans"/>
                        </a:rPr>
                        <a:t>False-threat interpretation reduction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07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Product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SECTION 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0378440" cy="3154680"/>
          </a:xfrm>
          <a:prstGeom prst="roundRect">
            <a:avLst/>
          </a:prstGeom>
          <a:solidFill>
            <a:srgbClr val="17191D"/>
          </a:solidFill>
          <a:ln w="1524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146304" cy="3154680"/>
          </a:xfrm>
          <a:prstGeom prst="rect">
            <a:avLst/>
          </a:prstGeom>
          <a:solidFill>
            <a:srgbClr val="C9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>
                <a:solidFill>
                  <a:srgbClr val="E9E9EA"/>
                </a:solidFill>
                <a:latin typeface="DM Sans"/>
              </a:rPr>
              <a:t>Preventive loop design and measurable evidence surfaces.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08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Core loop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Six linked mechanics, one coherent daily 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3611880" cy="36118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12848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C9933A"/>
                </a:solidFill>
                <a:latin typeface="IBM Plex Mono"/>
              </a:rPr>
              <a:t>LOOP 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3154680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31546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Morning baseline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Energy + hardware read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Risk context before action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No branch clutter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2011680"/>
            <a:ext cx="3611880" cy="36118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212848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C9933A"/>
                </a:solidFill>
                <a:latin typeface="IBM Plex Mono"/>
              </a:rPr>
              <a:t>LOOP MIDDLE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651760"/>
            <a:ext cx="3154680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709160" y="2651760"/>
            <a:ext cx="31546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State-based routing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Body-first or thought-first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Reframe + regulation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Transfer to practical action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2011680"/>
            <a:ext cx="3611880" cy="36118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2212848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C9933A"/>
                </a:solidFill>
                <a:latin typeface="IBM Plex Mono"/>
              </a:rPr>
              <a:t>LOOP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51760"/>
            <a:ext cx="3154680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49640" y="2651760"/>
            <a:ext cx="31546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EOD closure signal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Pattern continuity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Nudge recovery checks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Longitudinal compounding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09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Evidence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What must be true to claim impact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828800"/>
          <a:ext cx="1088136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566160"/>
                <a:gridCol w="5303520"/>
              </a:tblGrid>
              <a:tr h="75438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Layer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Metric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Interpretation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Session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Pre/post composure delta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Immediate regulation effect quality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Daily loop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Morning/EOD completion + drop-off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Behavioral consistency under load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Intervention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Nudge shown/actioned/recovery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Preventive support conversion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Longitudinal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Awareness latency trend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Maturity and self-regulation speed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  <a:tr h="7543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Trust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Restore reliability + entitlement truth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Operational integrity in production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10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Business + Distribution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SECTION 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0378440" cy="3154680"/>
          </a:xfrm>
          <a:prstGeom prst="roundRect">
            <a:avLst/>
          </a:prstGeom>
          <a:solidFill>
            <a:srgbClr val="17191D"/>
          </a:solidFill>
          <a:ln w="1524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146304" cy="3154680"/>
          </a:xfrm>
          <a:prstGeom prst="rect">
            <a:avLst/>
          </a:prstGeom>
          <a:solidFill>
            <a:srgbClr val="C9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>
                <a:solidFill>
                  <a:srgbClr val="E9E9EA"/>
                </a:solidFill>
                <a:latin typeface="DM Sans"/>
              </a:rPr>
              <a:t>Focused economics and trust-first channel strategy.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11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Business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Simple model, trust-aligned economics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9728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3840480"/>
                <a:gridCol w="5166360"/>
              </a:tblGrid>
              <a:tr h="896112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Component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Current position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C9933A"/>
                          </a:solidFill>
                          <a:latin typeface="DM Sans"/>
                        </a:rPr>
                        <a:t>Defensibility logic</a:t>
                      </a:r>
                    </a:p>
                  </a:txBody>
                  <a:tcPr marL="64008" marR="64008" marT="36576" marB="36576">
                    <a:solidFill>
                      <a:srgbClr val="17191D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Revenue model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Single tier ($14.99 / $9.99 annualized)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Low friction + no upsell trust tax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Category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Preventive risk management for behavior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Distinct from passive wellness consumption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Distribution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Coaches, therapist-adjacent, trusted communities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Trust transfer outperforms cold paid acquisition</a:t>
                      </a:r>
                    </a:p>
                  </a:txBody>
                  <a:tcPr marL="64008" marR="64008" marT="36576" marB="36576">
                    <a:solidFill>
                      <a:srgbClr val="0E0F11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Retention thesis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Daily loop utility + proof of change + continuity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C4C6CC"/>
                          </a:solidFill>
                          <a:latin typeface="DM Sans"/>
                        </a:rPr>
                        <a:t>Habit + evidence + context memory</a:t>
                      </a:r>
                    </a:p>
                  </a:txBody>
                  <a:tcPr marL="64008" marR="64008" marT="36576" marB="36576">
                    <a:solidFill>
                      <a:srgbClr val="1F222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12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Execution phases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Non-calendar phase logic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011680"/>
            <a:ext cx="3611880" cy="36118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12848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C9933A"/>
                </a:solidFill>
                <a:latin typeface="IBM Plex Mono"/>
              </a:rPr>
              <a:t>PHASE 1-2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3154680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" y="2651760"/>
            <a:ext cx="31546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Reliability + proof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Subscription truth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Daily loop hardening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Measured retention baseline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2011680"/>
            <a:ext cx="3611880" cy="36118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09160" y="2212848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C9933A"/>
                </a:solidFill>
                <a:latin typeface="IBM Plex Mono"/>
              </a:rPr>
              <a:t>PHASE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651760"/>
            <a:ext cx="3154680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709160" y="2651760"/>
            <a:ext cx="31546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Distribution scale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Coach/practitioner channels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Referral systemization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Conversion quality gates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2011680"/>
            <a:ext cx="3611880" cy="36118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2212848"/>
            <a:ext cx="3154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C9933A"/>
                </a:solidFill>
                <a:latin typeface="IBM Plex Mono"/>
              </a:rPr>
              <a:t>PHASE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2651760"/>
            <a:ext cx="3154680" cy="2697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549640" y="2651760"/>
            <a:ext cx="315468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Calendar + health hookups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Consent/revoke integrity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Lower manual input burden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Context quality protection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13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Integrity + Risk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SECTION BREAK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0378440" cy="3154680"/>
          </a:xfrm>
          <a:prstGeom prst="roundRect">
            <a:avLst/>
          </a:prstGeom>
          <a:solidFill>
            <a:srgbClr val="17191D"/>
          </a:solidFill>
          <a:ln w="1524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2103120"/>
            <a:ext cx="146304" cy="3154680"/>
          </a:xfrm>
          <a:prstGeom prst="rect">
            <a:avLst/>
          </a:prstGeom>
          <a:solidFill>
            <a:srgbClr val="C99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43200"/>
            <a:ext cx="932688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>
                <a:solidFill>
                  <a:srgbClr val="E9E9EA"/>
                </a:solidFill>
                <a:latin typeface="DM Sans"/>
              </a:rPr>
              <a:t>Release discipline is part of the product, not an afterthought.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14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Integrity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How trust is enforced in code and release practice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349240" cy="4526280"/>
          </a:xfrm>
          <a:prstGeom prst="roundRect">
            <a:avLst/>
          </a:prstGeom>
          <a:solidFill>
            <a:srgbClr val="17191D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148839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SHIP preflight gates: build + invariant + trust checks.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Audience lock: universal framing; no niche-only drift.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Claim lock: mechanism-first language; no overclaiming.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Escalation: any invariant failure blocks release.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Diagnostics on trust-critical flows (subscription/sync/restore).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874519"/>
            <a:ext cx="5349240" cy="4526280"/>
          </a:xfrm>
          <a:prstGeom prst="roundRect">
            <a:avLst/>
          </a:prstGeom>
          <a:solidFill>
            <a:srgbClr val="1F2228"/>
          </a:solidFill>
          <a:ln w="12700">
            <a:solidFill>
              <a:srgbClr val="3538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148839"/>
            <a:ext cx="4937760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Risk: feature sprawl -&gt; Mitigation: ecosystem-first gate.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Risk: reliability regression -&gt; Mitigation: preflight + smoke checks.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Risk: trust mismatch -&gt; Mitigation: copy/behavior parity review.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Risk: retention decay -&gt; Mitigation: loop adherence + nudge recovery telemetry.</a:t>
            </a:r>
          </a:p>
          <a:p>
            <a:pPr>
              <a:spcAft>
                <a:spcPts val="800"/>
              </a:spcAft>
              <a:defRPr sz="1400">
                <a:solidFill>
                  <a:srgbClr val="E9E9EA"/>
                </a:solidFill>
                <a:latin typeface="DM Sans"/>
              </a:defRPr>
            </a:pPr>
            <a:r>
              <a:t>Risk: evidence drift -&gt; Mitigation: measured outcomes before stronger claims.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719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50292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C9933A"/>
                </a:solidFill>
                <a:latin typeface="IBM Plex Mono"/>
              </a:rPr>
              <a:t>STILLFORM · STRATEGIC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109728"/>
            <a:ext cx="13716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A5A8B0"/>
                </a:solidFill>
                <a:latin typeface="IBM Plex Mono"/>
              </a:rPr>
              <a:t>15 /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C9933A"/>
                </a:solidFill>
                <a:latin typeface="Cormorant Garamond"/>
              </a:rPr>
              <a:t>Stillform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508760"/>
            <a:ext cx="107899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A5A8B0"/>
                </a:solidFill>
                <a:latin typeface="DM Sans"/>
              </a:rPr>
              <a:t>Preventive risk management for human behavior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10789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>
                <a:solidFill>
                  <a:srgbClr val="E9E9EA"/>
                </a:solidFill>
                <a:latin typeface="DM Sans"/>
              </a:rPr>
              <a:t>Mission: reduce avoidable human damage by making composure trainable, measurable, and transferable.
Standard: honor, honesty, and integrity in product behavior, language, and release decisions.
stillformapp.com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